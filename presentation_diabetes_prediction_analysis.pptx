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ter"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62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738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19664"/>
            <a:ext cx="7556421" cy="2605088"/>
          </a:xfrm>
          <a:prstGeom prst="rect">
            <a:avLst/>
          </a:prstGeom>
          <a:noFill/>
          <a:ln/>
        </p:spPr>
        <p:txBody>
          <a:bodyPr wrap="square" lIns="0" tIns="0" rIns="0" bIns="0" rtlCol="0" anchor="t"/>
          <a:lstStyle/>
          <a:p>
            <a:pPr marL="0" indent="0" algn="l">
              <a:lnSpc>
                <a:spcPts val="5100"/>
              </a:lnSpc>
              <a:buNone/>
            </a:pPr>
            <a:r>
              <a:rPr lang="en-US" sz="4100" b="1" dirty="0">
                <a:solidFill>
                  <a:srgbClr val="FF8AAF"/>
                </a:solidFill>
                <a:latin typeface="Petrona Bold" pitchFamily="34" charset="0"/>
                <a:ea typeface="Petrona Bold" pitchFamily="34" charset="-122"/>
                <a:cs typeface="Petrona Bold" pitchFamily="34" charset="-120"/>
              </a:rPr>
              <a:t>Data Cleaning, Statistical Analysis, Visualization, and KNN Classification on Diabetes Dataset</a:t>
            </a:r>
            <a:endParaRPr lang="en-US" sz="4100" dirty="0"/>
          </a:p>
        </p:txBody>
      </p:sp>
      <p:sp>
        <p:nvSpPr>
          <p:cNvPr id="4" name="Text 1"/>
          <p:cNvSpPr/>
          <p:nvPr/>
        </p:nvSpPr>
        <p:spPr>
          <a:xfrm>
            <a:off x="6280190" y="4022408"/>
            <a:ext cx="7556421" cy="317540"/>
          </a:xfrm>
          <a:prstGeom prst="rect">
            <a:avLst/>
          </a:prstGeom>
          <a:noFill/>
          <a:ln/>
        </p:spPr>
        <p:txBody>
          <a:bodyPr wrap="none" lIns="0" tIns="0" rIns="0" bIns="0" rtlCol="0" anchor="t"/>
          <a:lstStyle/>
          <a:p>
            <a:pPr marL="0" indent="0" algn="l">
              <a:lnSpc>
                <a:spcPts val="2500"/>
              </a:lnSpc>
              <a:buNone/>
            </a:pPr>
            <a:r>
              <a:rPr lang="en-US" sz="1550" b="1" dirty="0">
                <a:solidFill>
                  <a:srgbClr val="E0D6DE"/>
                </a:solidFill>
                <a:latin typeface="Inter" pitchFamily="34" charset="0"/>
                <a:ea typeface="Inter" pitchFamily="34" charset="-122"/>
                <a:cs typeface="Inter" pitchFamily="34" charset="-120"/>
              </a:rPr>
              <a:t>Assignment Part B – Diabetes Dataset Analysis and KNN Classification</a:t>
            </a:r>
            <a:endParaRPr lang="en-US" sz="1550" dirty="0"/>
          </a:p>
        </p:txBody>
      </p:sp>
      <p:sp>
        <p:nvSpPr>
          <p:cNvPr id="5" name="Shape 2"/>
          <p:cNvSpPr/>
          <p:nvPr/>
        </p:nvSpPr>
        <p:spPr>
          <a:xfrm>
            <a:off x="6280190" y="4563189"/>
            <a:ext cx="3679031" cy="1174194"/>
          </a:xfrm>
          <a:prstGeom prst="roundRect">
            <a:avLst>
              <a:gd name="adj" fmla="val 7099"/>
            </a:avLst>
          </a:prstGeom>
          <a:solidFill>
            <a:srgbClr val="2F1D63"/>
          </a:solidFill>
          <a:ln w="7620">
            <a:solidFill>
              <a:srgbClr val="48367C"/>
            </a:solidFill>
            <a:prstDash val="solid"/>
          </a:ln>
        </p:spPr>
      </p:sp>
      <p:sp>
        <p:nvSpPr>
          <p:cNvPr id="6" name="Text 3"/>
          <p:cNvSpPr/>
          <p:nvPr/>
        </p:nvSpPr>
        <p:spPr>
          <a:xfrm>
            <a:off x="6486168" y="476916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Student</a:t>
            </a:r>
            <a:endParaRPr lang="en-US" sz="2050" dirty="0"/>
          </a:p>
        </p:txBody>
      </p:sp>
      <p:sp>
        <p:nvSpPr>
          <p:cNvPr id="7" name="Text 4"/>
          <p:cNvSpPr/>
          <p:nvPr/>
        </p:nvSpPr>
        <p:spPr>
          <a:xfrm>
            <a:off x="6486168" y="5213866"/>
            <a:ext cx="3267075"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Pratham Shah</a:t>
            </a:r>
            <a:endParaRPr lang="en-US" sz="1550" dirty="0"/>
          </a:p>
        </p:txBody>
      </p:sp>
      <p:sp>
        <p:nvSpPr>
          <p:cNvPr id="8" name="Shape 5"/>
          <p:cNvSpPr/>
          <p:nvPr/>
        </p:nvSpPr>
        <p:spPr>
          <a:xfrm>
            <a:off x="10157579" y="4563189"/>
            <a:ext cx="3679031" cy="1174194"/>
          </a:xfrm>
          <a:prstGeom prst="roundRect">
            <a:avLst>
              <a:gd name="adj" fmla="val 7099"/>
            </a:avLst>
          </a:prstGeom>
          <a:solidFill>
            <a:srgbClr val="2F1D63"/>
          </a:solidFill>
          <a:ln w="7620">
            <a:solidFill>
              <a:srgbClr val="48367C"/>
            </a:solidFill>
            <a:prstDash val="solid"/>
          </a:ln>
        </p:spPr>
      </p:sp>
      <p:sp>
        <p:nvSpPr>
          <p:cNvPr id="9" name="Text 6"/>
          <p:cNvSpPr/>
          <p:nvPr/>
        </p:nvSpPr>
        <p:spPr>
          <a:xfrm>
            <a:off x="10363557" y="476916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Roll No.</a:t>
            </a:r>
            <a:endParaRPr lang="en-US" sz="2050" dirty="0"/>
          </a:p>
        </p:txBody>
      </p:sp>
      <p:sp>
        <p:nvSpPr>
          <p:cNvPr id="10" name="Text 7"/>
          <p:cNvSpPr/>
          <p:nvPr/>
        </p:nvSpPr>
        <p:spPr>
          <a:xfrm>
            <a:off x="10363557" y="5213866"/>
            <a:ext cx="3267075"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25BCE380</a:t>
            </a:r>
            <a:endParaRPr lang="en-US" sz="1550" dirty="0"/>
          </a:p>
        </p:txBody>
      </p:sp>
      <p:sp>
        <p:nvSpPr>
          <p:cNvPr id="11" name="Shape 8"/>
          <p:cNvSpPr/>
          <p:nvPr/>
        </p:nvSpPr>
        <p:spPr>
          <a:xfrm>
            <a:off x="6280190" y="5935742"/>
            <a:ext cx="7556421" cy="1174194"/>
          </a:xfrm>
          <a:prstGeom prst="roundRect">
            <a:avLst>
              <a:gd name="adj" fmla="val 7099"/>
            </a:avLst>
          </a:prstGeom>
          <a:solidFill>
            <a:srgbClr val="2F1D63"/>
          </a:solidFill>
          <a:ln w="7620">
            <a:solidFill>
              <a:srgbClr val="48367C"/>
            </a:solidFill>
            <a:prstDash val="solid"/>
          </a:ln>
        </p:spPr>
      </p:sp>
      <p:sp>
        <p:nvSpPr>
          <p:cNvPr id="12" name="Text 9"/>
          <p:cNvSpPr/>
          <p:nvPr/>
        </p:nvSpPr>
        <p:spPr>
          <a:xfrm>
            <a:off x="6486168" y="6141720"/>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Division</a:t>
            </a:r>
            <a:endParaRPr lang="en-US" sz="2050" dirty="0"/>
          </a:p>
        </p:txBody>
      </p:sp>
      <p:sp>
        <p:nvSpPr>
          <p:cNvPr id="13" name="Text 10"/>
          <p:cNvSpPr/>
          <p:nvPr/>
        </p:nvSpPr>
        <p:spPr>
          <a:xfrm>
            <a:off x="6486168" y="6586418"/>
            <a:ext cx="7144464"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J</a:t>
            </a:r>
            <a:endParaRPr lang="en-US" sz="1550" dirty="0"/>
          </a:p>
        </p:txBody>
      </p:sp>
      <p:sp>
        <p:nvSpPr>
          <p:cNvPr id="14" name="Rectangle 13">
            <a:extLst>
              <a:ext uri="{FF2B5EF4-FFF2-40B4-BE49-F238E27FC236}">
                <a16:creationId xmlns:a16="http://schemas.microsoft.com/office/drawing/2014/main" id="{76AE04DF-115B-CAC5-39E4-7396B6946E8F}"/>
              </a:ext>
            </a:extLst>
          </p:cNvPr>
          <p:cNvSpPr/>
          <p:nvPr/>
        </p:nvSpPr>
        <p:spPr>
          <a:xfrm>
            <a:off x="12756995" y="7727795"/>
            <a:ext cx="1761893" cy="5018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97888"/>
            <a:ext cx="6467475" cy="651272"/>
          </a:xfrm>
          <a:prstGeom prst="rect">
            <a:avLst/>
          </a:prstGeom>
          <a:noFill/>
          <a:ln/>
        </p:spPr>
        <p:txBody>
          <a:bodyPr wrap="none" lIns="0" tIns="0" rIns="0" bIns="0" rtlCol="0" anchor="t"/>
          <a:lstStyle/>
          <a:p>
            <a:pPr marL="0" indent="0" algn="l">
              <a:lnSpc>
                <a:spcPts val="5100"/>
              </a:lnSpc>
              <a:buNone/>
            </a:pPr>
            <a:r>
              <a:rPr lang="en-US" sz="4100" b="1" dirty="0">
                <a:solidFill>
                  <a:srgbClr val="FF8AAF"/>
                </a:solidFill>
                <a:latin typeface="Petrona Bold" pitchFamily="34" charset="0"/>
                <a:ea typeface="Petrona Bold" pitchFamily="34" charset="-122"/>
                <a:cs typeface="Petrona Bold" pitchFamily="34" charset="-120"/>
              </a:rPr>
              <a:t>Introduction and Objective</a:t>
            </a:r>
            <a:endParaRPr lang="en-US" sz="4100" dirty="0"/>
          </a:p>
        </p:txBody>
      </p:sp>
      <p:sp>
        <p:nvSpPr>
          <p:cNvPr id="3" name="Text 1"/>
          <p:cNvSpPr/>
          <p:nvPr/>
        </p:nvSpPr>
        <p:spPr>
          <a:xfrm>
            <a:off x="793790" y="2245995"/>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Diabetes is one of the most prevalent chronic diseases worldwide, affecting millions of people across all demographics. Early and accurate prediction of diabetes is critical for timely intervention and improved patient outcomes. Machine learning methods offer powerful tools to assist clinicians in identifying at-risk individuals from symptom and demographic data.</a:t>
            </a:r>
            <a:endParaRPr lang="en-US" sz="1550" dirty="0"/>
          </a:p>
        </p:txBody>
      </p:sp>
      <p:sp>
        <p:nvSpPr>
          <p:cNvPr id="4" name="Shape 2"/>
          <p:cNvSpPr/>
          <p:nvPr/>
        </p:nvSpPr>
        <p:spPr>
          <a:xfrm>
            <a:off x="650915" y="3421856"/>
            <a:ext cx="6565106" cy="3609737"/>
          </a:xfrm>
          <a:prstGeom prst="roundRect">
            <a:avLst>
              <a:gd name="adj" fmla="val 3959"/>
            </a:avLst>
          </a:prstGeom>
          <a:solidFill>
            <a:srgbClr val="876CD4">
              <a:alpha val="95000"/>
            </a:srgbClr>
          </a:solidFill>
          <a:ln/>
        </p:spPr>
      </p:sp>
      <p:sp>
        <p:nvSpPr>
          <p:cNvPr id="5" name="Text 3"/>
          <p:cNvSpPr/>
          <p:nvPr/>
        </p:nvSpPr>
        <p:spPr>
          <a:xfrm>
            <a:off x="849273" y="3620214"/>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FFFFFF"/>
                </a:solidFill>
                <a:latin typeface="Petrona Bold" pitchFamily="34" charset="0"/>
                <a:ea typeface="Petrona Bold" pitchFamily="34" charset="-122"/>
                <a:cs typeface="Petrona Bold" pitchFamily="34" charset="-120"/>
              </a:rPr>
              <a:t>Why This Dataset?</a:t>
            </a:r>
            <a:endParaRPr lang="en-US" sz="2050" dirty="0"/>
          </a:p>
        </p:txBody>
      </p:sp>
      <p:sp>
        <p:nvSpPr>
          <p:cNvPr id="6" name="Text 4"/>
          <p:cNvSpPr/>
          <p:nvPr/>
        </p:nvSpPr>
        <p:spPr>
          <a:xfrm>
            <a:off x="849273" y="4144208"/>
            <a:ext cx="6168390"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The </a:t>
            </a:r>
            <a:r>
              <a:rPr lang="en-US" sz="1550" b="1" dirty="0">
                <a:solidFill>
                  <a:srgbClr val="000000"/>
                </a:solidFill>
                <a:latin typeface="Inter" pitchFamily="34" charset="0"/>
                <a:ea typeface="Inter" pitchFamily="34" charset="-122"/>
                <a:cs typeface="Inter" pitchFamily="34" charset="-120"/>
              </a:rPr>
              <a:t>diabetes_data_upload.csv</a:t>
            </a:r>
            <a:r>
              <a:rPr lang="en-US" sz="1550" dirty="0">
                <a:solidFill>
                  <a:srgbClr val="000000"/>
                </a:solidFill>
                <a:latin typeface="Inter" pitchFamily="34" charset="0"/>
                <a:ea typeface="Inter" pitchFamily="34" charset="-122"/>
                <a:cs typeface="Inter" pitchFamily="34" charset="-120"/>
              </a:rPr>
              <a:t> dataset captures real-world clinical symptoms and demographic information, making it ideal for exploring classification workflows in a healthcare context. It provides a practical, domain-relevant challenge for end-to-end data science.</a:t>
            </a:r>
            <a:endParaRPr lang="en-US" sz="1550" dirty="0"/>
          </a:p>
        </p:txBody>
      </p:sp>
      <p:sp>
        <p:nvSpPr>
          <p:cNvPr id="7" name="Text 5"/>
          <p:cNvSpPr/>
          <p:nvPr/>
        </p:nvSpPr>
        <p:spPr>
          <a:xfrm>
            <a:off x="7564874" y="3620214"/>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FF8AAF"/>
                </a:solidFill>
                <a:latin typeface="Petrona Bold" pitchFamily="34" charset="0"/>
                <a:ea typeface="Petrona Bold" pitchFamily="34" charset="-122"/>
                <a:cs typeface="Petrona Bold" pitchFamily="34" charset="-120"/>
              </a:rPr>
              <a:t>Project Objectives</a:t>
            </a:r>
            <a:endParaRPr lang="en-US" sz="2050" dirty="0"/>
          </a:p>
        </p:txBody>
      </p:sp>
      <p:sp>
        <p:nvSpPr>
          <p:cNvPr id="8" name="Text 6"/>
          <p:cNvSpPr/>
          <p:nvPr/>
        </p:nvSpPr>
        <p:spPr>
          <a:xfrm>
            <a:off x="7564874" y="4144208"/>
            <a:ext cx="6279356" cy="2817971"/>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Understand and explore the diabetes dataset structure and features</a:t>
            </a:r>
            <a:endParaRPr lang="en-US" sz="1550" dirty="0"/>
          </a:p>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Perform data cleaning including handling missing values via imputation</a:t>
            </a:r>
            <a:endParaRPr lang="en-US" sz="1550" dirty="0"/>
          </a:p>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Conduct statistical analysis and unique value investigation</a:t>
            </a:r>
            <a:endParaRPr lang="en-US" sz="1550" dirty="0"/>
          </a:p>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Visualize data patterns using subplots</a:t>
            </a:r>
            <a:endParaRPr lang="en-US" sz="1550" dirty="0"/>
          </a:p>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Build and evaluate a KNN classification model for diabetes prediction</a:t>
            </a:r>
            <a:endParaRPr lang="en-US" sz="1550" dirty="0"/>
          </a:p>
        </p:txBody>
      </p:sp>
      <p:sp>
        <p:nvSpPr>
          <p:cNvPr id="9" name="Rectangle 8">
            <a:extLst>
              <a:ext uri="{FF2B5EF4-FFF2-40B4-BE49-F238E27FC236}">
                <a16:creationId xmlns:a16="http://schemas.microsoft.com/office/drawing/2014/main" id="{826DDB90-C411-8E77-E535-764389B59255}"/>
              </a:ext>
            </a:extLst>
          </p:cNvPr>
          <p:cNvSpPr/>
          <p:nvPr/>
        </p:nvSpPr>
        <p:spPr>
          <a:xfrm>
            <a:off x="12745844" y="7627434"/>
            <a:ext cx="1884556" cy="6021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6519" y="652820"/>
            <a:ext cx="4768334" cy="596027"/>
          </a:xfrm>
          <a:prstGeom prst="rect">
            <a:avLst/>
          </a:prstGeom>
          <a:noFill/>
          <a:ln/>
        </p:spPr>
        <p:txBody>
          <a:bodyPr wrap="none" lIns="0" tIns="0" rIns="0" bIns="0" rtlCol="0" anchor="t"/>
          <a:lstStyle/>
          <a:p>
            <a:pPr marL="0" indent="0" algn="l">
              <a:lnSpc>
                <a:spcPts val="4650"/>
              </a:lnSpc>
              <a:buNone/>
            </a:pPr>
            <a:r>
              <a:rPr lang="en-US" sz="3750" b="1" dirty="0">
                <a:solidFill>
                  <a:srgbClr val="FF8AAF"/>
                </a:solidFill>
                <a:latin typeface="Petrona Bold" pitchFamily="34" charset="0"/>
                <a:ea typeface="Petrona Bold" pitchFamily="34" charset="-122"/>
                <a:cs typeface="Petrona Bold" pitchFamily="34" charset="-120"/>
              </a:rPr>
              <a:t>Dataset Overview </a:t>
            </a:r>
            <a:r>
              <a:rPr lang="en-US" sz="3750" b="1" dirty="0">
                <a:solidFill>
                  <a:srgbClr val="E0D6DE"/>
                </a:solidFill>
                <a:latin typeface="Petrona Bold" pitchFamily="34" charset="0"/>
                <a:ea typeface="Petrona Bold" pitchFamily="34" charset="-122"/>
                <a:cs typeface="Petrona Bold" pitchFamily="34" charset="-120"/>
              </a:rPr>
              <a:t>(Q1)</a:t>
            </a:r>
            <a:endParaRPr lang="en-US" sz="3750" dirty="0"/>
          </a:p>
        </p:txBody>
      </p:sp>
      <p:sp>
        <p:nvSpPr>
          <p:cNvPr id="3" name="Text 1"/>
          <p:cNvSpPr/>
          <p:nvPr/>
        </p:nvSpPr>
        <p:spPr>
          <a:xfrm>
            <a:off x="726519" y="1581269"/>
            <a:ext cx="13177361" cy="556736"/>
          </a:xfrm>
          <a:prstGeom prst="rect">
            <a:avLst/>
          </a:prstGeom>
          <a:noFill/>
          <a:ln/>
        </p:spPr>
        <p:txBody>
          <a:bodyPr wrap="squar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The dataset </a:t>
            </a:r>
            <a:r>
              <a:rPr lang="en-US" sz="1400" b="1" dirty="0">
                <a:solidFill>
                  <a:srgbClr val="E0D6DE"/>
                </a:solidFill>
                <a:latin typeface="Inter" pitchFamily="34" charset="0"/>
                <a:ea typeface="Inter" pitchFamily="34" charset="-122"/>
                <a:cs typeface="Inter" pitchFamily="34" charset="-120"/>
              </a:rPr>
              <a:t>diabetes_data_upload.csv</a:t>
            </a:r>
            <a:r>
              <a:rPr lang="en-US" sz="1400" dirty="0">
                <a:solidFill>
                  <a:srgbClr val="E0D6DE"/>
                </a:solidFill>
                <a:latin typeface="Inter" pitchFamily="34" charset="0"/>
                <a:ea typeface="Inter" pitchFamily="34" charset="-122"/>
                <a:cs typeface="Inter" pitchFamily="34" charset="-120"/>
              </a:rPr>
              <a:t> belongs to the </a:t>
            </a:r>
            <a:r>
              <a:rPr lang="en-US" sz="1400" b="1" dirty="0">
                <a:solidFill>
                  <a:srgbClr val="E0D6DE"/>
                </a:solidFill>
                <a:latin typeface="Inter" pitchFamily="34" charset="0"/>
                <a:ea typeface="Inter" pitchFamily="34" charset="-122"/>
                <a:cs typeface="Inter" pitchFamily="34" charset="-120"/>
              </a:rPr>
              <a:t>Healthcare / Medical</a:t>
            </a:r>
            <a:r>
              <a:rPr lang="en-US" sz="1400" dirty="0">
                <a:solidFill>
                  <a:srgbClr val="E0D6DE"/>
                </a:solidFill>
                <a:latin typeface="Inter" pitchFamily="34" charset="0"/>
                <a:ea typeface="Inter" pitchFamily="34" charset="-122"/>
                <a:cs typeface="Inter" pitchFamily="34" charset="-120"/>
              </a:rPr>
              <a:t> domain. It contains </a:t>
            </a:r>
            <a:r>
              <a:rPr lang="en-US" sz="1400" b="1" dirty="0">
                <a:solidFill>
                  <a:srgbClr val="E0D6DE"/>
                </a:solidFill>
                <a:latin typeface="Inter" pitchFamily="34" charset="0"/>
                <a:ea typeface="Inter" pitchFamily="34" charset="-122"/>
                <a:cs typeface="Inter" pitchFamily="34" charset="-120"/>
              </a:rPr>
              <a:t>520 records</a:t>
            </a:r>
            <a:r>
              <a:rPr lang="en-US" sz="1400" dirty="0">
                <a:solidFill>
                  <a:srgbClr val="E0D6DE"/>
                </a:solidFill>
                <a:latin typeface="Inter" pitchFamily="34" charset="0"/>
                <a:ea typeface="Inter" pitchFamily="34" charset="-122"/>
                <a:cs typeface="Inter" pitchFamily="34" charset="-120"/>
              </a:rPr>
              <a:t> across </a:t>
            </a:r>
            <a:r>
              <a:rPr lang="en-US" sz="1400" b="1" dirty="0">
                <a:solidFill>
                  <a:srgbClr val="E0D6DE"/>
                </a:solidFill>
                <a:latin typeface="Inter" pitchFamily="34" charset="0"/>
                <a:ea typeface="Inter" pitchFamily="34" charset="-122"/>
                <a:cs typeface="Inter" pitchFamily="34" charset="-120"/>
              </a:rPr>
              <a:t>17 columns</a:t>
            </a:r>
            <a:r>
              <a:rPr lang="en-US" sz="1400" dirty="0">
                <a:solidFill>
                  <a:srgbClr val="E0D6DE"/>
                </a:solidFill>
                <a:latin typeface="Inter" pitchFamily="34" charset="0"/>
                <a:ea typeface="Inter" pitchFamily="34" charset="-122"/>
                <a:cs typeface="Inter" pitchFamily="34" charset="-120"/>
              </a:rPr>
              <a:t>, capturing patient age, gender, and 14 clinical symptoms alongside a binary class label for diabetes diagnosis.</a:t>
            </a:r>
            <a:endParaRPr lang="en-US" sz="14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519" y="2511862"/>
            <a:ext cx="454104" cy="454104"/>
          </a:xfrm>
          <a:prstGeom prst="rect">
            <a:avLst/>
          </a:prstGeom>
        </p:spPr>
      </p:pic>
      <p:sp>
        <p:nvSpPr>
          <p:cNvPr id="5" name="Text 2"/>
          <p:cNvSpPr/>
          <p:nvPr/>
        </p:nvSpPr>
        <p:spPr>
          <a:xfrm>
            <a:off x="726519" y="3173730"/>
            <a:ext cx="2384108" cy="297894"/>
          </a:xfrm>
          <a:prstGeom prst="rect">
            <a:avLst/>
          </a:prstGeom>
          <a:noFill/>
          <a:ln/>
        </p:spPr>
        <p:txBody>
          <a:bodyPr wrap="none" lIns="0" tIns="0" rIns="0" bIns="0" rtlCol="0" anchor="t"/>
          <a:lstStyle/>
          <a:p>
            <a:pPr marL="0" indent="0" algn="l">
              <a:lnSpc>
                <a:spcPts val="2300"/>
              </a:lnSpc>
              <a:buNone/>
            </a:pPr>
            <a:r>
              <a:rPr lang="en-US" sz="1850" b="1" dirty="0">
                <a:solidFill>
                  <a:srgbClr val="E0D6DE"/>
                </a:solidFill>
                <a:latin typeface="Petrona Bold" pitchFamily="34" charset="0"/>
                <a:ea typeface="Petrona Bold" pitchFamily="34" charset="-122"/>
                <a:cs typeface="Petrona Bold" pitchFamily="34" charset="-120"/>
              </a:rPr>
              <a:t>520 Rows</a:t>
            </a:r>
            <a:endParaRPr lang="en-US" sz="1850" dirty="0"/>
          </a:p>
        </p:txBody>
      </p:sp>
      <p:sp>
        <p:nvSpPr>
          <p:cNvPr id="6" name="Text 3"/>
          <p:cNvSpPr/>
          <p:nvPr/>
        </p:nvSpPr>
        <p:spPr>
          <a:xfrm>
            <a:off x="726519" y="3637836"/>
            <a:ext cx="6367105"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Total patient records in the dataset</a:t>
            </a:r>
            <a:endParaRPr lang="en-US" sz="14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519" y="4248626"/>
            <a:ext cx="454104" cy="454104"/>
          </a:xfrm>
          <a:prstGeom prst="rect">
            <a:avLst/>
          </a:prstGeom>
        </p:spPr>
      </p:pic>
      <p:sp>
        <p:nvSpPr>
          <p:cNvPr id="8" name="Text 4"/>
          <p:cNvSpPr/>
          <p:nvPr/>
        </p:nvSpPr>
        <p:spPr>
          <a:xfrm>
            <a:off x="726519" y="4910495"/>
            <a:ext cx="2384108" cy="297894"/>
          </a:xfrm>
          <a:prstGeom prst="rect">
            <a:avLst/>
          </a:prstGeom>
          <a:noFill/>
          <a:ln/>
        </p:spPr>
        <p:txBody>
          <a:bodyPr wrap="none" lIns="0" tIns="0" rIns="0" bIns="0" rtlCol="0" anchor="t"/>
          <a:lstStyle/>
          <a:p>
            <a:pPr marL="0" indent="0" algn="l">
              <a:lnSpc>
                <a:spcPts val="2300"/>
              </a:lnSpc>
              <a:buNone/>
            </a:pPr>
            <a:r>
              <a:rPr lang="en-US" sz="1850" b="1" dirty="0">
                <a:solidFill>
                  <a:srgbClr val="E0D6DE"/>
                </a:solidFill>
                <a:latin typeface="Petrona Bold" pitchFamily="34" charset="0"/>
                <a:ea typeface="Petrona Bold" pitchFamily="34" charset="-122"/>
                <a:cs typeface="Petrona Bold" pitchFamily="34" charset="-120"/>
              </a:rPr>
              <a:t>17 Columns</a:t>
            </a:r>
            <a:endParaRPr lang="en-US" sz="1850" dirty="0"/>
          </a:p>
        </p:txBody>
      </p:sp>
      <p:sp>
        <p:nvSpPr>
          <p:cNvPr id="9" name="Text 5"/>
          <p:cNvSpPr/>
          <p:nvPr/>
        </p:nvSpPr>
        <p:spPr>
          <a:xfrm>
            <a:off x="726519" y="5374600"/>
            <a:ext cx="6367105"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Features including demographics and symptoms</a:t>
            </a:r>
            <a:endParaRPr lang="en-US" sz="14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6519" y="5985391"/>
            <a:ext cx="454104" cy="454104"/>
          </a:xfrm>
          <a:prstGeom prst="rect">
            <a:avLst/>
          </a:prstGeom>
        </p:spPr>
      </p:pic>
      <p:sp>
        <p:nvSpPr>
          <p:cNvPr id="11" name="Text 6"/>
          <p:cNvSpPr/>
          <p:nvPr/>
        </p:nvSpPr>
        <p:spPr>
          <a:xfrm>
            <a:off x="726519" y="6647259"/>
            <a:ext cx="2384108" cy="297894"/>
          </a:xfrm>
          <a:prstGeom prst="rect">
            <a:avLst/>
          </a:prstGeom>
          <a:noFill/>
          <a:ln/>
        </p:spPr>
        <p:txBody>
          <a:bodyPr wrap="none" lIns="0" tIns="0" rIns="0" bIns="0" rtlCol="0" anchor="t"/>
          <a:lstStyle/>
          <a:p>
            <a:pPr marL="0" indent="0" algn="l">
              <a:lnSpc>
                <a:spcPts val="2300"/>
              </a:lnSpc>
              <a:buNone/>
            </a:pPr>
            <a:r>
              <a:rPr lang="en-US" sz="1850" b="1" dirty="0">
                <a:solidFill>
                  <a:srgbClr val="E0D6DE"/>
                </a:solidFill>
                <a:latin typeface="Petrona Bold" pitchFamily="34" charset="0"/>
                <a:ea typeface="Petrona Bold" pitchFamily="34" charset="-122"/>
                <a:cs typeface="Petrona Bold" pitchFamily="34" charset="-120"/>
              </a:rPr>
              <a:t>Class Label</a:t>
            </a:r>
            <a:endParaRPr lang="en-US" sz="1850" dirty="0"/>
          </a:p>
        </p:txBody>
      </p:sp>
      <p:sp>
        <p:nvSpPr>
          <p:cNvPr id="12" name="Text 7"/>
          <p:cNvSpPr/>
          <p:nvPr/>
        </p:nvSpPr>
        <p:spPr>
          <a:xfrm>
            <a:off x="726519" y="7111365"/>
            <a:ext cx="6367105"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Binary target: </a:t>
            </a:r>
            <a:r>
              <a:rPr lang="en-US" sz="1400" b="1" dirty="0">
                <a:solidFill>
                  <a:srgbClr val="E0D6DE"/>
                </a:solidFill>
                <a:latin typeface="Inter" pitchFamily="34" charset="0"/>
                <a:ea typeface="Inter" pitchFamily="34" charset="-122"/>
                <a:cs typeface="Inter" pitchFamily="34" charset="-120"/>
              </a:rPr>
              <a:t>Positive</a:t>
            </a:r>
            <a:r>
              <a:rPr lang="en-US" sz="1400" dirty="0">
                <a:solidFill>
                  <a:srgbClr val="E0D6DE"/>
                </a:solidFill>
                <a:latin typeface="Inter" pitchFamily="34" charset="0"/>
                <a:ea typeface="Inter" pitchFamily="34" charset="-122"/>
                <a:cs typeface="Inter" pitchFamily="34" charset="-120"/>
              </a:rPr>
              <a:t> or </a:t>
            </a:r>
            <a:r>
              <a:rPr lang="en-US" sz="1400" b="1" dirty="0">
                <a:solidFill>
                  <a:srgbClr val="E0D6DE"/>
                </a:solidFill>
                <a:latin typeface="Inter" pitchFamily="34" charset="0"/>
                <a:ea typeface="Inter" pitchFamily="34" charset="-122"/>
                <a:cs typeface="Inter" pitchFamily="34" charset="-120"/>
              </a:rPr>
              <a:t>Negative</a:t>
            </a:r>
            <a:endParaRPr lang="en-US" sz="1400" dirty="0"/>
          </a:p>
        </p:txBody>
      </p:sp>
      <p:sp>
        <p:nvSpPr>
          <p:cNvPr id="13" name="Shape 8"/>
          <p:cNvSpPr/>
          <p:nvPr/>
        </p:nvSpPr>
        <p:spPr>
          <a:xfrm>
            <a:off x="7544395" y="2511862"/>
            <a:ext cx="6367105" cy="2788682"/>
          </a:xfrm>
          <a:prstGeom prst="roundRect">
            <a:avLst>
              <a:gd name="adj" fmla="val 2736"/>
            </a:avLst>
          </a:prstGeom>
          <a:noFill/>
          <a:ln w="7620">
            <a:solidFill>
              <a:srgbClr val="FFFFFF">
                <a:alpha val="24000"/>
              </a:srgbClr>
            </a:solidFill>
            <a:prstDash val="solid"/>
          </a:ln>
        </p:spPr>
      </p:sp>
      <p:sp>
        <p:nvSpPr>
          <p:cNvPr id="14" name="Text 9"/>
          <p:cNvSpPr/>
          <p:nvPr/>
        </p:nvSpPr>
        <p:spPr>
          <a:xfrm>
            <a:off x="7734300" y="2626757"/>
            <a:ext cx="1749862" cy="278368"/>
          </a:xfrm>
          <a:prstGeom prst="rect">
            <a:avLst/>
          </a:prstGeom>
          <a:noFill/>
          <a:ln/>
        </p:spPr>
        <p:txBody>
          <a:bodyPr wrap="none" lIns="0" tIns="0" rIns="0" bIns="0" rtlCol="0" anchor="t"/>
          <a:lstStyle/>
          <a:p>
            <a:pPr marL="0" indent="0" algn="l">
              <a:lnSpc>
                <a:spcPts val="2150"/>
              </a:lnSpc>
              <a:buNone/>
            </a:pPr>
            <a:r>
              <a:rPr lang="en-US" sz="1400" b="1" dirty="0">
                <a:solidFill>
                  <a:srgbClr val="E0D6DE"/>
                </a:solidFill>
                <a:latin typeface="Inter" pitchFamily="34" charset="0"/>
                <a:ea typeface="Inter" pitchFamily="34" charset="-122"/>
                <a:cs typeface="Inter" pitchFamily="34" charset="-120"/>
              </a:rPr>
              <a:t>Feature</a:t>
            </a:r>
            <a:endParaRPr lang="en-US" sz="1400" dirty="0"/>
          </a:p>
        </p:txBody>
      </p:sp>
      <p:sp>
        <p:nvSpPr>
          <p:cNvPr id="15" name="Text 10"/>
          <p:cNvSpPr/>
          <p:nvPr/>
        </p:nvSpPr>
        <p:spPr>
          <a:xfrm>
            <a:off x="9854922" y="2626757"/>
            <a:ext cx="1746052" cy="278368"/>
          </a:xfrm>
          <a:prstGeom prst="rect">
            <a:avLst/>
          </a:prstGeom>
          <a:noFill/>
          <a:ln/>
        </p:spPr>
        <p:txBody>
          <a:bodyPr wrap="none" lIns="0" tIns="0" rIns="0" bIns="0" rtlCol="0" anchor="t"/>
          <a:lstStyle/>
          <a:p>
            <a:pPr marL="0" indent="0" algn="l">
              <a:lnSpc>
                <a:spcPts val="2150"/>
              </a:lnSpc>
              <a:buNone/>
            </a:pPr>
            <a:r>
              <a:rPr lang="en-US" sz="1400" b="1" dirty="0">
                <a:solidFill>
                  <a:srgbClr val="E0D6DE"/>
                </a:solidFill>
                <a:latin typeface="Inter" pitchFamily="34" charset="0"/>
                <a:ea typeface="Inter" pitchFamily="34" charset="-122"/>
                <a:cs typeface="Inter" pitchFamily="34" charset="-120"/>
              </a:rPr>
              <a:t>Type</a:t>
            </a:r>
            <a:endParaRPr lang="en-US" sz="1400" dirty="0"/>
          </a:p>
        </p:txBody>
      </p:sp>
      <p:sp>
        <p:nvSpPr>
          <p:cNvPr id="16" name="Text 11"/>
          <p:cNvSpPr/>
          <p:nvPr/>
        </p:nvSpPr>
        <p:spPr>
          <a:xfrm>
            <a:off x="11971734" y="2626757"/>
            <a:ext cx="1749862" cy="278368"/>
          </a:xfrm>
          <a:prstGeom prst="rect">
            <a:avLst/>
          </a:prstGeom>
          <a:noFill/>
          <a:ln/>
        </p:spPr>
        <p:txBody>
          <a:bodyPr wrap="none" lIns="0" tIns="0" rIns="0" bIns="0" rtlCol="0" anchor="t"/>
          <a:lstStyle/>
          <a:p>
            <a:pPr marL="0" indent="0" algn="l">
              <a:lnSpc>
                <a:spcPts val="2150"/>
              </a:lnSpc>
              <a:buNone/>
            </a:pPr>
            <a:r>
              <a:rPr lang="en-US" sz="1400" b="1" dirty="0">
                <a:solidFill>
                  <a:srgbClr val="E0D6DE"/>
                </a:solidFill>
                <a:latin typeface="Inter" pitchFamily="34" charset="0"/>
                <a:ea typeface="Inter" pitchFamily="34" charset="-122"/>
                <a:cs typeface="Inter" pitchFamily="34" charset="-120"/>
              </a:rPr>
              <a:t>Description</a:t>
            </a:r>
            <a:endParaRPr lang="en-US" sz="1400" dirty="0"/>
          </a:p>
        </p:txBody>
      </p:sp>
      <p:sp>
        <p:nvSpPr>
          <p:cNvPr id="17" name="Text 12"/>
          <p:cNvSpPr/>
          <p:nvPr/>
        </p:nvSpPr>
        <p:spPr>
          <a:xfrm>
            <a:off x="7734300" y="3127296"/>
            <a:ext cx="174986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Age</a:t>
            </a:r>
            <a:endParaRPr lang="en-US" sz="1400" dirty="0"/>
          </a:p>
        </p:txBody>
      </p:sp>
      <p:sp>
        <p:nvSpPr>
          <p:cNvPr id="18" name="Text 13"/>
          <p:cNvSpPr/>
          <p:nvPr/>
        </p:nvSpPr>
        <p:spPr>
          <a:xfrm>
            <a:off x="9854922" y="3127296"/>
            <a:ext cx="174605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Numerical</a:t>
            </a:r>
            <a:endParaRPr lang="en-US" sz="1400" dirty="0"/>
          </a:p>
        </p:txBody>
      </p:sp>
      <p:sp>
        <p:nvSpPr>
          <p:cNvPr id="19" name="Text 14"/>
          <p:cNvSpPr/>
          <p:nvPr/>
        </p:nvSpPr>
        <p:spPr>
          <a:xfrm>
            <a:off x="11971734" y="3127296"/>
            <a:ext cx="174986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Patient age (integer)</a:t>
            </a:r>
            <a:endParaRPr lang="en-US" sz="1400" dirty="0"/>
          </a:p>
        </p:txBody>
      </p:sp>
      <p:sp>
        <p:nvSpPr>
          <p:cNvPr id="20" name="Text 15"/>
          <p:cNvSpPr/>
          <p:nvPr/>
        </p:nvSpPr>
        <p:spPr>
          <a:xfrm>
            <a:off x="7734300" y="3627834"/>
            <a:ext cx="174986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Gender</a:t>
            </a:r>
            <a:endParaRPr lang="en-US" sz="1400" dirty="0"/>
          </a:p>
        </p:txBody>
      </p:sp>
      <p:sp>
        <p:nvSpPr>
          <p:cNvPr id="21" name="Text 16"/>
          <p:cNvSpPr/>
          <p:nvPr/>
        </p:nvSpPr>
        <p:spPr>
          <a:xfrm>
            <a:off x="9854922" y="3627834"/>
            <a:ext cx="174605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Categorical</a:t>
            </a:r>
            <a:endParaRPr lang="en-US" sz="1400" dirty="0"/>
          </a:p>
        </p:txBody>
      </p:sp>
      <p:sp>
        <p:nvSpPr>
          <p:cNvPr id="22" name="Text 17"/>
          <p:cNvSpPr/>
          <p:nvPr/>
        </p:nvSpPr>
        <p:spPr>
          <a:xfrm>
            <a:off x="11971734" y="3627834"/>
            <a:ext cx="174986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Male / Female</a:t>
            </a:r>
            <a:endParaRPr lang="en-US" sz="1400" dirty="0"/>
          </a:p>
        </p:txBody>
      </p:sp>
      <p:sp>
        <p:nvSpPr>
          <p:cNvPr id="23" name="Text 18"/>
          <p:cNvSpPr/>
          <p:nvPr/>
        </p:nvSpPr>
        <p:spPr>
          <a:xfrm>
            <a:off x="7734300" y="4128373"/>
            <a:ext cx="1749862" cy="556736"/>
          </a:xfrm>
          <a:prstGeom prst="rect">
            <a:avLst/>
          </a:prstGeom>
          <a:noFill/>
          <a:ln/>
        </p:spPr>
        <p:txBody>
          <a:bodyPr wrap="squar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Polyuria, Polydipsia, etc.</a:t>
            </a:r>
            <a:endParaRPr lang="en-US" sz="1400" dirty="0"/>
          </a:p>
        </p:txBody>
      </p:sp>
      <p:sp>
        <p:nvSpPr>
          <p:cNvPr id="24" name="Text 19"/>
          <p:cNvSpPr/>
          <p:nvPr/>
        </p:nvSpPr>
        <p:spPr>
          <a:xfrm>
            <a:off x="9854922" y="4128373"/>
            <a:ext cx="174605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Categorical (Binary)</a:t>
            </a:r>
            <a:endParaRPr lang="en-US" sz="1400" dirty="0"/>
          </a:p>
        </p:txBody>
      </p:sp>
      <p:sp>
        <p:nvSpPr>
          <p:cNvPr id="25" name="Text 20"/>
          <p:cNvSpPr/>
          <p:nvPr/>
        </p:nvSpPr>
        <p:spPr>
          <a:xfrm>
            <a:off x="11971734" y="4128373"/>
            <a:ext cx="1749862" cy="556736"/>
          </a:xfrm>
          <a:prstGeom prst="rect">
            <a:avLst/>
          </a:prstGeom>
          <a:noFill/>
          <a:ln/>
        </p:spPr>
        <p:txBody>
          <a:bodyPr wrap="squar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Symptom columns (Yes/No)</a:t>
            </a:r>
            <a:endParaRPr lang="en-US" sz="1400" dirty="0"/>
          </a:p>
        </p:txBody>
      </p:sp>
      <p:sp>
        <p:nvSpPr>
          <p:cNvPr id="26" name="Text 21"/>
          <p:cNvSpPr/>
          <p:nvPr/>
        </p:nvSpPr>
        <p:spPr>
          <a:xfrm>
            <a:off x="7734300" y="4907280"/>
            <a:ext cx="174986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class</a:t>
            </a:r>
            <a:endParaRPr lang="en-US" sz="1400" dirty="0"/>
          </a:p>
        </p:txBody>
      </p:sp>
      <p:sp>
        <p:nvSpPr>
          <p:cNvPr id="27" name="Text 22"/>
          <p:cNvSpPr/>
          <p:nvPr/>
        </p:nvSpPr>
        <p:spPr>
          <a:xfrm>
            <a:off x="9854922" y="4907280"/>
            <a:ext cx="174605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Target Label</a:t>
            </a:r>
            <a:endParaRPr lang="en-US" sz="1400" dirty="0"/>
          </a:p>
        </p:txBody>
      </p:sp>
      <p:sp>
        <p:nvSpPr>
          <p:cNvPr id="28" name="Text 23"/>
          <p:cNvSpPr/>
          <p:nvPr/>
        </p:nvSpPr>
        <p:spPr>
          <a:xfrm>
            <a:off x="11971734" y="4907280"/>
            <a:ext cx="1749862" cy="278368"/>
          </a:xfrm>
          <a:prstGeom prst="rect">
            <a:avLst/>
          </a:prstGeom>
          <a:noFill/>
          <a:ln/>
        </p:spPr>
        <p:txBody>
          <a:bodyPr wrap="none" lIns="0" tIns="0" rIns="0" bIns="0" rtlCol="0" anchor="t"/>
          <a:lstStyle/>
          <a:p>
            <a:pPr marL="0" indent="0" algn="l">
              <a:lnSpc>
                <a:spcPts val="2150"/>
              </a:lnSpc>
              <a:buNone/>
            </a:pPr>
            <a:r>
              <a:rPr lang="en-US" sz="1400" dirty="0">
                <a:solidFill>
                  <a:srgbClr val="E0D6DE"/>
                </a:solidFill>
                <a:latin typeface="Inter" pitchFamily="34" charset="0"/>
                <a:ea typeface="Inter" pitchFamily="34" charset="-122"/>
                <a:cs typeface="Inter" pitchFamily="34" charset="-120"/>
              </a:rPr>
              <a:t>Positive / Negative</a:t>
            </a:r>
            <a:endParaRPr lang="en-US" sz="1400" dirty="0"/>
          </a:p>
        </p:txBody>
      </p:sp>
      <p:pic>
        <p:nvPicPr>
          <p:cNvPr id="30" name="Picture 29">
            <a:extLst>
              <a:ext uri="{FF2B5EF4-FFF2-40B4-BE49-F238E27FC236}">
                <a16:creationId xmlns:a16="http://schemas.microsoft.com/office/drawing/2014/main" id="{FAEBCFDD-1928-CE4A-EC10-8D4C06768EBE}"/>
              </a:ext>
            </a:extLst>
          </p:cNvPr>
          <p:cNvPicPr>
            <a:picLocks noChangeAspect="1"/>
          </p:cNvPicPr>
          <p:nvPr/>
        </p:nvPicPr>
        <p:blipFill>
          <a:blip r:embed="rId6"/>
          <a:stretch>
            <a:fillRect/>
          </a:stretch>
        </p:blipFill>
        <p:spPr>
          <a:xfrm>
            <a:off x="3663393" y="5723085"/>
            <a:ext cx="4789016" cy="2444136"/>
          </a:xfrm>
          <a:prstGeom prst="rect">
            <a:avLst/>
          </a:prstGeom>
        </p:spPr>
      </p:pic>
      <p:pic>
        <p:nvPicPr>
          <p:cNvPr id="32" name="Picture 31">
            <a:extLst>
              <a:ext uri="{FF2B5EF4-FFF2-40B4-BE49-F238E27FC236}">
                <a16:creationId xmlns:a16="http://schemas.microsoft.com/office/drawing/2014/main" id="{0188E536-008E-9961-3E43-0CDE73B131BE}"/>
              </a:ext>
            </a:extLst>
          </p:cNvPr>
          <p:cNvPicPr>
            <a:picLocks noChangeAspect="1"/>
          </p:cNvPicPr>
          <p:nvPr/>
        </p:nvPicPr>
        <p:blipFill>
          <a:blip r:embed="rId7"/>
          <a:stretch>
            <a:fillRect/>
          </a:stretch>
        </p:blipFill>
        <p:spPr>
          <a:xfrm>
            <a:off x="8449653" y="5723086"/>
            <a:ext cx="4789017" cy="2444136"/>
          </a:xfrm>
          <a:prstGeom prst="rect">
            <a:avLst/>
          </a:prstGeom>
        </p:spPr>
      </p:pic>
      <p:pic>
        <p:nvPicPr>
          <p:cNvPr id="34" name="Picture 33">
            <a:extLst>
              <a:ext uri="{FF2B5EF4-FFF2-40B4-BE49-F238E27FC236}">
                <a16:creationId xmlns:a16="http://schemas.microsoft.com/office/drawing/2014/main" id="{DF6283E9-C949-9C65-2B73-CBB08FED8A2D}"/>
              </a:ext>
            </a:extLst>
          </p:cNvPr>
          <p:cNvPicPr>
            <a:picLocks noChangeAspect="1"/>
          </p:cNvPicPr>
          <p:nvPr/>
        </p:nvPicPr>
        <p:blipFill>
          <a:blip r:embed="rId8"/>
          <a:stretch>
            <a:fillRect/>
          </a:stretch>
        </p:blipFill>
        <p:spPr>
          <a:xfrm>
            <a:off x="13238669" y="5723085"/>
            <a:ext cx="1356030" cy="24441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554474"/>
            <a:ext cx="12415718" cy="651272"/>
          </a:xfrm>
          <a:prstGeom prst="rect">
            <a:avLst/>
          </a:prstGeom>
          <a:noFill/>
          <a:ln/>
        </p:spPr>
        <p:txBody>
          <a:bodyPr wrap="none" lIns="0" tIns="0" rIns="0" bIns="0" rtlCol="0" anchor="t"/>
          <a:lstStyle/>
          <a:p>
            <a:pPr marL="0" indent="0" algn="l">
              <a:lnSpc>
                <a:spcPts val="5100"/>
              </a:lnSpc>
              <a:buNone/>
            </a:pPr>
            <a:r>
              <a:rPr lang="en-US" sz="4100" b="1" dirty="0">
                <a:solidFill>
                  <a:srgbClr val="FF8AAF"/>
                </a:solidFill>
                <a:latin typeface="Petrona Bold" pitchFamily="34" charset="0"/>
                <a:ea typeface="Petrona Bold" pitchFamily="34" charset="-122"/>
                <a:cs typeface="Petrona Bold" pitchFamily="34" charset="-120"/>
              </a:rPr>
              <a:t>Data Characteristics and Class Label </a:t>
            </a:r>
            <a:r>
              <a:rPr lang="en-US" sz="4100" b="1" dirty="0">
                <a:solidFill>
                  <a:srgbClr val="E0D6DE"/>
                </a:solidFill>
                <a:latin typeface="Petrona Bold" pitchFamily="34" charset="0"/>
                <a:ea typeface="Petrona Bold" pitchFamily="34" charset="-122"/>
                <a:cs typeface="Petrona Bold" pitchFamily="34" charset="-120"/>
              </a:rPr>
              <a:t>(Q1 Continued)</a:t>
            </a:r>
            <a:endParaRPr lang="en-US" sz="4100" dirty="0"/>
          </a:p>
        </p:txBody>
      </p:sp>
      <p:sp>
        <p:nvSpPr>
          <p:cNvPr id="3" name="Text 1"/>
          <p:cNvSpPr/>
          <p:nvPr/>
        </p:nvSpPr>
        <p:spPr>
          <a:xfrm>
            <a:off x="793790" y="1701760"/>
            <a:ext cx="3012519" cy="325636"/>
          </a:xfrm>
          <a:prstGeom prst="rect">
            <a:avLst/>
          </a:prstGeom>
          <a:noFill/>
          <a:ln/>
        </p:spPr>
        <p:txBody>
          <a:bodyPr wrap="none" lIns="0" tIns="0" rIns="0" bIns="0" rtlCol="0" anchor="t"/>
          <a:lstStyle/>
          <a:p>
            <a:pPr marL="0" indent="0" algn="l">
              <a:lnSpc>
                <a:spcPts val="2550"/>
              </a:lnSpc>
              <a:buNone/>
            </a:pPr>
            <a:r>
              <a:rPr lang="en-US" sz="2050" b="1" dirty="0">
                <a:solidFill>
                  <a:srgbClr val="FF8AAF"/>
                </a:solidFill>
                <a:latin typeface="Petrona Bold" pitchFamily="34" charset="0"/>
                <a:ea typeface="Petrona Bold" pitchFamily="34" charset="-122"/>
                <a:cs typeface="Petrona Bold" pitchFamily="34" charset="-120"/>
              </a:rPr>
              <a:t>Feature Types at a Glance</a:t>
            </a:r>
            <a:endParaRPr lang="en-US" sz="2050" dirty="0"/>
          </a:p>
        </p:txBody>
      </p:sp>
      <p:sp>
        <p:nvSpPr>
          <p:cNvPr id="4" name="Shape 2"/>
          <p:cNvSpPr/>
          <p:nvPr/>
        </p:nvSpPr>
        <p:spPr>
          <a:xfrm>
            <a:off x="793790" y="2250638"/>
            <a:ext cx="6279356" cy="1601510"/>
          </a:xfrm>
          <a:prstGeom prst="roundRect">
            <a:avLst>
              <a:gd name="adj" fmla="val 6852"/>
            </a:avLst>
          </a:prstGeom>
          <a:solidFill>
            <a:srgbClr val="0C0524">
              <a:alpha val="95000"/>
            </a:srgbClr>
          </a:solidFill>
          <a:ln w="22860">
            <a:solidFill>
              <a:srgbClr val="48367C"/>
            </a:solidFill>
            <a:prstDash val="solid"/>
          </a:ln>
        </p:spPr>
      </p:sp>
      <p:pic>
        <p:nvPicPr>
          <p:cNvPr id="5" name="Image 0" descr="preencoded.png"/>
          <p:cNvPicPr>
            <a:picLocks noChangeAspect="1"/>
          </p:cNvPicPr>
          <p:nvPr/>
        </p:nvPicPr>
        <p:blipFill>
          <a:blip r:embed="rId3"/>
          <a:stretch>
            <a:fillRect/>
          </a:stretch>
        </p:blipFill>
        <p:spPr>
          <a:xfrm>
            <a:off x="770930" y="2250638"/>
            <a:ext cx="91440" cy="1601510"/>
          </a:xfrm>
          <a:prstGeom prst="rect">
            <a:avLst/>
          </a:prstGeom>
        </p:spPr>
      </p:pic>
      <p:sp>
        <p:nvSpPr>
          <p:cNvPr id="6" name="Text 3"/>
          <p:cNvSpPr/>
          <p:nvPr/>
        </p:nvSpPr>
        <p:spPr>
          <a:xfrm>
            <a:off x="1083588" y="2471857"/>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Numerical</a:t>
            </a:r>
            <a:endParaRPr lang="en-US" sz="2050" dirty="0"/>
          </a:p>
        </p:txBody>
      </p:sp>
      <p:sp>
        <p:nvSpPr>
          <p:cNvPr id="7" name="Text 4"/>
          <p:cNvSpPr/>
          <p:nvPr/>
        </p:nvSpPr>
        <p:spPr>
          <a:xfrm>
            <a:off x="1083588" y="2995851"/>
            <a:ext cx="5768340" cy="635079"/>
          </a:xfrm>
          <a:prstGeom prst="rect">
            <a:avLst/>
          </a:prstGeom>
          <a:noFill/>
          <a:ln/>
        </p:spPr>
        <p:txBody>
          <a:bodyPr wrap="square" lIns="0" tIns="0" rIns="0" bIns="0" rtlCol="0" anchor="t"/>
          <a:lstStyle/>
          <a:p>
            <a:pPr marL="0" indent="0" algn="l">
              <a:lnSpc>
                <a:spcPts val="2500"/>
              </a:lnSpc>
              <a:buNone/>
            </a:pPr>
            <a:r>
              <a:rPr lang="en-US" sz="1550" b="1" dirty="0">
                <a:solidFill>
                  <a:srgbClr val="E0D6DE"/>
                </a:solidFill>
                <a:latin typeface="Inter" pitchFamily="34" charset="0"/>
                <a:ea typeface="Inter" pitchFamily="34" charset="-122"/>
                <a:cs typeface="Inter" pitchFamily="34" charset="-120"/>
              </a:rPr>
              <a:t>Age</a:t>
            </a:r>
            <a:r>
              <a:rPr lang="en-US" sz="1550" dirty="0">
                <a:solidFill>
                  <a:srgbClr val="E0D6DE"/>
                </a:solidFill>
                <a:latin typeface="Inter" pitchFamily="34" charset="0"/>
                <a:ea typeface="Inter" pitchFamily="34" charset="-122"/>
                <a:cs typeface="Inter" pitchFamily="34" charset="-120"/>
              </a:rPr>
              <a:t> — the only continuous numerical column. Ranges from young adults to elderly patients.</a:t>
            </a:r>
            <a:endParaRPr lang="en-US" sz="1550" dirty="0"/>
          </a:p>
        </p:txBody>
      </p:sp>
      <p:sp>
        <p:nvSpPr>
          <p:cNvPr id="8" name="Shape 5"/>
          <p:cNvSpPr/>
          <p:nvPr/>
        </p:nvSpPr>
        <p:spPr>
          <a:xfrm>
            <a:off x="793790" y="4050506"/>
            <a:ext cx="6279356" cy="1601510"/>
          </a:xfrm>
          <a:prstGeom prst="roundRect">
            <a:avLst>
              <a:gd name="adj" fmla="val 6852"/>
            </a:avLst>
          </a:prstGeom>
          <a:solidFill>
            <a:srgbClr val="0C0524">
              <a:alpha val="95000"/>
            </a:srgbClr>
          </a:solidFill>
          <a:ln w="22860">
            <a:solidFill>
              <a:srgbClr val="48367C"/>
            </a:solidFill>
            <a:prstDash val="solid"/>
          </a:ln>
        </p:spPr>
      </p:sp>
      <p:pic>
        <p:nvPicPr>
          <p:cNvPr id="9" name="Image 1" descr="preencoded.png"/>
          <p:cNvPicPr>
            <a:picLocks noChangeAspect="1"/>
          </p:cNvPicPr>
          <p:nvPr/>
        </p:nvPicPr>
        <p:blipFill>
          <a:blip r:embed="rId3"/>
          <a:stretch>
            <a:fillRect/>
          </a:stretch>
        </p:blipFill>
        <p:spPr>
          <a:xfrm>
            <a:off x="770930" y="4050506"/>
            <a:ext cx="91440" cy="1601510"/>
          </a:xfrm>
          <a:prstGeom prst="rect">
            <a:avLst/>
          </a:prstGeom>
        </p:spPr>
      </p:pic>
      <p:sp>
        <p:nvSpPr>
          <p:cNvPr id="10" name="Text 6"/>
          <p:cNvSpPr/>
          <p:nvPr/>
        </p:nvSpPr>
        <p:spPr>
          <a:xfrm>
            <a:off x="1083588" y="4271724"/>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Categorical (Binary)</a:t>
            </a:r>
            <a:endParaRPr lang="en-US" sz="2050" dirty="0"/>
          </a:p>
        </p:txBody>
      </p:sp>
      <p:sp>
        <p:nvSpPr>
          <p:cNvPr id="11" name="Text 7"/>
          <p:cNvSpPr/>
          <p:nvPr/>
        </p:nvSpPr>
        <p:spPr>
          <a:xfrm>
            <a:off x="1083588" y="4795718"/>
            <a:ext cx="5768340" cy="635079"/>
          </a:xfrm>
          <a:prstGeom prst="rect">
            <a:avLst/>
          </a:prstGeom>
          <a:noFill/>
          <a:ln/>
        </p:spPr>
        <p:txBody>
          <a:bodyPr wrap="square" lIns="0" tIns="0" rIns="0" bIns="0" rtlCol="0" anchor="t"/>
          <a:lstStyle/>
          <a:p>
            <a:pPr marL="0" indent="0" algn="l">
              <a:lnSpc>
                <a:spcPts val="2500"/>
              </a:lnSpc>
              <a:buNone/>
            </a:pPr>
            <a:r>
              <a:rPr lang="en-US" sz="1550" b="1" dirty="0">
                <a:solidFill>
                  <a:srgbClr val="E0D6DE"/>
                </a:solidFill>
                <a:latin typeface="Inter" pitchFamily="34" charset="0"/>
                <a:ea typeface="Inter" pitchFamily="34" charset="-122"/>
                <a:cs typeface="Inter" pitchFamily="34" charset="-120"/>
              </a:rPr>
              <a:t>Gender</a:t>
            </a:r>
            <a:r>
              <a:rPr lang="en-US" sz="1550" dirty="0">
                <a:solidFill>
                  <a:srgbClr val="E0D6DE"/>
                </a:solidFill>
                <a:latin typeface="Inter" pitchFamily="34" charset="0"/>
                <a:ea typeface="Inter" pitchFamily="34" charset="-122"/>
                <a:cs typeface="Inter" pitchFamily="34" charset="-120"/>
              </a:rPr>
              <a:t> (Male/Female) and </a:t>
            </a:r>
            <a:r>
              <a:rPr lang="en-US" sz="1550" b="1" dirty="0">
                <a:solidFill>
                  <a:srgbClr val="E0D6DE"/>
                </a:solidFill>
                <a:latin typeface="Inter" pitchFamily="34" charset="0"/>
                <a:ea typeface="Inter" pitchFamily="34" charset="-122"/>
                <a:cs typeface="Inter" pitchFamily="34" charset="-120"/>
              </a:rPr>
              <a:t>14 symptom columns</a:t>
            </a:r>
            <a:r>
              <a:rPr lang="en-US" sz="1550" dirty="0">
                <a:solidFill>
                  <a:srgbClr val="E0D6DE"/>
                </a:solidFill>
                <a:latin typeface="Inter" pitchFamily="34" charset="0"/>
                <a:ea typeface="Inter" pitchFamily="34" charset="-122"/>
                <a:cs typeface="Inter" pitchFamily="34" charset="-120"/>
              </a:rPr>
              <a:t> (Yes/No) — all binary categorical features.</a:t>
            </a:r>
            <a:endParaRPr lang="en-US" sz="1550" dirty="0"/>
          </a:p>
        </p:txBody>
      </p:sp>
      <p:sp>
        <p:nvSpPr>
          <p:cNvPr id="12" name="Shape 8"/>
          <p:cNvSpPr/>
          <p:nvPr/>
        </p:nvSpPr>
        <p:spPr>
          <a:xfrm>
            <a:off x="793790" y="5850374"/>
            <a:ext cx="6279356" cy="1601510"/>
          </a:xfrm>
          <a:prstGeom prst="roundRect">
            <a:avLst>
              <a:gd name="adj" fmla="val 6852"/>
            </a:avLst>
          </a:prstGeom>
          <a:solidFill>
            <a:srgbClr val="0C0524">
              <a:alpha val="95000"/>
            </a:srgbClr>
          </a:solidFill>
          <a:ln w="22860">
            <a:solidFill>
              <a:srgbClr val="48367C"/>
            </a:solidFill>
            <a:prstDash val="solid"/>
          </a:ln>
        </p:spPr>
      </p:sp>
      <p:pic>
        <p:nvPicPr>
          <p:cNvPr id="13" name="Image 2" descr="preencoded.png"/>
          <p:cNvPicPr>
            <a:picLocks noChangeAspect="1"/>
          </p:cNvPicPr>
          <p:nvPr/>
        </p:nvPicPr>
        <p:blipFill>
          <a:blip r:embed="rId3"/>
          <a:stretch>
            <a:fillRect/>
          </a:stretch>
        </p:blipFill>
        <p:spPr>
          <a:xfrm>
            <a:off x="770930" y="5850374"/>
            <a:ext cx="91440" cy="1601510"/>
          </a:xfrm>
          <a:prstGeom prst="rect">
            <a:avLst/>
          </a:prstGeom>
        </p:spPr>
      </p:pic>
      <p:sp>
        <p:nvSpPr>
          <p:cNvPr id="14" name="Text 9"/>
          <p:cNvSpPr/>
          <p:nvPr/>
        </p:nvSpPr>
        <p:spPr>
          <a:xfrm>
            <a:off x="1083588" y="607159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Target / Class Label</a:t>
            </a:r>
            <a:endParaRPr lang="en-US" sz="2050" dirty="0"/>
          </a:p>
        </p:txBody>
      </p:sp>
      <p:sp>
        <p:nvSpPr>
          <p:cNvPr id="15" name="Text 10"/>
          <p:cNvSpPr/>
          <p:nvPr/>
        </p:nvSpPr>
        <p:spPr>
          <a:xfrm>
            <a:off x="1083588" y="6595586"/>
            <a:ext cx="5768340" cy="635079"/>
          </a:xfrm>
          <a:prstGeom prst="rect">
            <a:avLst/>
          </a:prstGeom>
          <a:noFill/>
          <a:ln/>
        </p:spPr>
        <p:txBody>
          <a:bodyPr wrap="square" lIns="0" tIns="0" rIns="0" bIns="0" rtlCol="0" anchor="t"/>
          <a:lstStyle/>
          <a:p>
            <a:pPr marL="0" indent="0" algn="l">
              <a:lnSpc>
                <a:spcPts val="2500"/>
              </a:lnSpc>
              <a:buNone/>
            </a:pPr>
            <a:r>
              <a:rPr lang="en-US" sz="1550" b="1" dirty="0">
                <a:solidFill>
                  <a:srgbClr val="E0D6DE"/>
                </a:solidFill>
                <a:latin typeface="Inter" pitchFamily="34" charset="0"/>
                <a:ea typeface="Inter" pitchFamily="34" charset="-122"/>
                <a:cs typeface="Inter" pitchFamily="34" charset="-120"/>
              </a:rPr>
              <a:t>class</a:t>
            </a:r>
            <a:r>
              <a:rPr lang="en-US" sz="1550" dirty="0">
                <a:solidFill>
                  <a:srgbClr val="E0D6DE"/>
                </a:solidFill>
                <a:latin typeface="Inter" pitchFamily="34" charset="0"/>
                <a:ea typeface="Inter" pitchFamily="34" charset="-122"/>
                <a:cs typeface="Inter" pitchFamily="34" charset="-120"/>
              </a:rPr>
              <a:t> column — values: </a:t>
            </a:r>
            <a:r>
              <a:rPr lang="en-US" sz="1550" b="1" dirty="0">
                <a:solidFill>
                  <a:srgbClr val="E0D6DE"/>
                </a:solidFill>
                <a:latin typeface="Inter" pitchFamily="34" charset="0"/>
                <a:ea typeface="Inter" pitchFamily="34" charset="-122"/>
                <a:cs typeface="Inter" pitchFamily="34" charset="-120"/>
              </a:rPr>
              <a:t>Positive</a:t>
            </a:r>
            <a:r>
              <a:rPr lang="en-US" sz="1550" dirty="0">
                <a:solidFill>
                  <a:srgbClr val="E0D6DE"/>
                </a:solidFill>
                <a:latin typeface="Inter" pitchFamily="34" charset="0"/>
                <a:ea typeface="Inter" pitchFamily="34" charset="-122"/>
                <a:cs typeface="Inter" pitchFamily="34" charset="-120"/>
              </a:rPr>
              <a:t> (diabetic) and </a:t>
            </a:r>
            <a:r>
              <a:rPr lang="en-US" sz="1550" b="1" dirty="0">
                <a:solidFill>
                  <a:srgbClr val="E0D6DE"/>
                </a:solidFill>
                <a:latin typeface="Inter" pitchFamily="34" charset="0"/>
                <a:ea typeface="Inter" pitchFamily="34" charset="-122"/>
                <a:cs typeface="Inter" pitchFamily="34" charset="-120"/>
              </a:rPr>
              <a:t>Negative</a:t>
            </a:r>
            <a:r>
              <a:rPr lang="en-US" sz="1550" dirty="0">
                <a:solidFill>
                  <a:srgbClr val="E0D6DE"/>
                </a:solidFill>
                <a:latin typeface="Inter" pitchFamily="34" charset="0"/>
                <a:ea typeface="Inter" pitchFamily="34" charset="-122"/>
                <a:cs typeface="Inter" pitchFamily="34" charset="-120"/>
              </a:rPr>
              <a:t> (non-diabetic).</a:t>
            </a:r>
            <a:endParaRPr lang="en-US" sz="1550" dirty="0"/>
          </a:p>
        </p:txBody>
      </p:sp>
      <p:sp>
        <p:nvSpPr>
          <p:cNvPr id="16" name="Shape 11"/>
          <p:cNvSpPr/>
          <p:nvPr/>
        </p:nvSpPr>
        <p:spPr>
          <a:xfrm>
            <a:off x="7421999" y="1503402"/>
            <a:ext cx="6565106" cy="6171724"/>
          </a:xfrm>
          <a:prstGeom prst="roundRect">
            <a:avLst>
              <a:gd name="adj" fmla="val 2315"/>
            </a:avLst>
          </a:prstGeom>
          <a:solidFill>
            <a:srgbClr val="876CD4">
              <a:alpha val="95000"/>
            </a:srgbClr>
          </a:solidFill>
          <a:ln/>
        </p:spPr>
      </p:sp>
      <p:sp>
        <p:nvSpPr>
          <p:cNvPr id="17" name="Text 12"/>
          <p:cNvSpPr/>
          <p:nvPr/>
        </p:nvSpPr>
        <p:spPr>
          <a:xfrm>
            <a:off x="7620357" y="1701760"/>
            <a:ext cx="4127778" cy="325636"/>
          </a:xfrm>
          <a:prstGeom prst="rect">
            <a:avLst/>
          </a:prstGeom>
          <a:noFill/>
          <a:ln/>
        </p:spPr>
        <p:txBody>
          <a:bodyPr wrap="none" lIns="0" tIns="0" rIns="0" bIns="0" rtlCol="0" anchor="t"/>
          <a:lstStyle/>
          <a:p>
            <a:pPr marL="0" indent="0" algn="l">
              <a:lnSpc>
                <a:spcPts val="2550"/>
              </a:lnSpc>
              <a:buNone/>
            </a:pPr>
            <a:r>
              <a:rPr lang="en-US" sz="2050" b="1" dirty="0">
                <a:solidFill>
                  <a:srgbClr val="FFFFFF"/>
                </a:solidFill>
                <a:latin typeface="Petrona Bold" pitchFamily="34" charset="0"/>
                <a:ea typeface="Petrona Bold" pitchFamily="34" charset="-122"/>
                <a:cs typeface="Petrona Bold" pitchFamily="34" charset="-120"/>
              </a:rPr>
              <a:t>Missing Value Summary (Original)</a:t>
            </a:r>
            <a:endParaRPr lang="en-US" sz="2050" dirty="0"/>
          </a:p>
        </p:txBody>
      </p:sp>
      <p:sp>
        <p:nvSpPr>
          <p:cNvPr id="18" name="Text 13"/>
          <p:cNvSpPr/>
          <p:nvPr/>
        </p:nvSpPr>
        <p:spPr>
          <a:xfrm>
            <a:off x="7620357" y="2225754"/>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The </a:t>
            </a:r>
            <a:r>
              <a:rPr lang="en-US" sz="1550" b="1" dirty="0">
                <a:solidFill>
                  <a:srgbClr val="000000"/>
                </a:solidFill>
                <a:latin typeface="Inter" pitchFamily="34" charset="0"/>
                <a:ea typeface="Inter" pitchFamily="34" charset="-122"/>
                <a:cs typeface="Inter" pitchFamily="34" charset="-120"/>
              </a:rPr>
              <a:t>original dataset contained zero missing values</a:t>
            </a:r>
            <a:r>
              <a:rPr lang="en-US" sz="1550" dirty="0">
                <a:solidFill>
                  <a:srgbClr val="000000"/>
                </a:solidFill>
                <a:latin typeface="Inter" pitchFamily="34" charset="0"/>
                <a:ea typeface="Inter" pitchFamily="34" charset="-122"/>
                <a:cs typeface="Inter" pitchFamily="34" charset="-120"/>
              </a:rPr>
              <a:t>. All 520 rows had complete records across all 17 columns — no null entries were present in the raw data.</a:t>
            </a:r>
            <a:endParaRPr lang="en-US" sz="1550" dirty="0"/>
          </a:p>
        </p:txBody>
      </p:sp>
      <p:sp>
        <p:nvSpPr>
          <p:cNvPr id="19" name="Text 14"/>
          <p:cNvSpPr/>
          <p:nvPr/>
        </p:nvSpPr>
        <p:spPr>
          <a:xfrm>
            <a:off x="7620357" y="3356967"/>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Artificial NaN values were </a:t>
            </a:r>
            <a:r>
              <a:rPr lang="en-US" sz="1550" b="1" dirty="0">
                <a:solidFill>
                  <a:srgbClr val="000000"/>
                </a:solidFill>
                <a:latin typeface="Inter" pitchFamily="34" charset="0"/>
                <a:ea typeface="Inter" pitchFamily="34" charset="-122"/>
                <a:cs typeface="Inter" pitchFamily="34" charset="-120"/>
              </a:rPr>
              <a:t>intentionally introduced</a:t>
            </a:r>
            <a:r>
              <a:rPr lang="en-US" sz="1550" dirty="0">
                <a:solidFill>
                  <a:srgbClr val="000000"/>
                </a:solidFill>
                <a:latin typeface="Inter" pitchFamily="34" charset="0"/>
                <a:ea typeface="Inter" pitchFamily="34" charset="-122"/>
                <a:cs typeface="Inter" pitchFamily="34" charset="-120"/>
              </a:rPr>
              <a:t> in the preprocessing stage purely for academic demonstration of imputation techniques. This ensured that the data cleaning workflow could be fully exercised and documented.</a:t>
            </a:r>
            <a:endParaRPr lang="en-US" sz="1550" dirty="0"/>
          </a:p>
        </p:txBody>
      </p:sp>
      <p:sp>
        <p:nvSpPr>
          <p:cNvPr id="20" name="Text 15"/>
          <p:cNvSpPr/>
          <p:nvPr/>
        </p:nvSpPr>
        <p:spPr>
          <a:xfrm>
            <a:off x="7620357" y="4805720"/>
            <a:ext cx="6168390"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Non-null entries per column: </a:t>
            </a:r>
            <a:r>
              <a:rPr lang="en-US" sz="1550" b="1" dirty="0">
                <a:solidFill>
                  <a:srgbClr val="000000"/>
                </a:solidFill>
                <a:latin typeface="Inter" pitchFamily="34" charset="0"/>
                <a:ea typeface="Inter" pitchFamily="34" charset="-122"/>
                <a:cs typeface="Inter" pitchFamily="34" charset="-120"/>
              </a:rPr>
              <a:t>520 / 520</a:t>
            </a:r>
            <a:r>
              <a:rPr lang="en-US" sz="1550" dirty="0">
                <a:solidFill>
                  <a:srgbClr val="000000"/>
                </a:solidFill>
                <a:latin typeface="Inter" pitchFamily="34" charset="0"/>
                <a:ea typeface="Inter" pitchFamily="34" charset="-122"/>
                <a:cs typeface="Inter" pitchFamily="34" charset="-120"/>
              </a:rPr>
              <a:t> before artificial insertion.</a:t>
            </a:r>
            <a:endParaRPr lang="en-US" sz="1550" dirty="0"/>
          </a:p>
        </p:txBody>
      </p:sp>
      <p:pic>
        <p:nvPicPr>
          <p:cNvPr id="22" name="Picture 21">
            <a:extLst>
              <a:ext uri="{FF2B5EF4-FFF2-40B4-BE49-F238E27FC236}">
                <a16:creationId xmlns:a16="http://schemas.microsoft.com/office/drawing/2014/main" id="{EEAA7626-7477-D359-50B5-B95889C0361C}"/>
              </a:ext>
            </a:extLst>
          </p:cNvPr>
          <p:cNvPicPr>
            <a:picLocks noChangeAspect="1"/>
          </p:cNvPicPr>
          <p:nvPr/>
        </p:nvPicPr>
        <p:blipFill>
          <a:blip r:embed="rId4"/>
          <a:stretch>
            <a:fillRect/>
          </a:stretch>
        </p:blipFill>
        <p:spPr>
          <a:xfrm>
            <a:off x="7706081" y="5145563"/>
            <a:ext cx="5503427" cy="2416522"/>
          </a:xfrm>
          <a:prstGeom prst="rect">
            <a:avLst/>
          </a:prstGeom>
        </p:spPr>
      </p:pic>
      <p:sp>
        <p:nvSpPr>
          <p:cNvPr id="21" name="Rectangle 20">
            <a:extLst>
              <a:ext uri="{FF2B5EF4-FFF2-40B4-BE49-F238E27FC236}">
                <a16:creationId xmlns:a16="http://schemas.microsoft.com/office/drawing/2014/main" id="{4C8A1A4D-7568-C62C-24C3-28D6696D0505}"/>
              </a:ext>
            </a:extLst>
          </p:cNvPr>
          <p:cNvSpPr/>
          <p:nvPr/>
        </p:nvSpPr>
        <p:spPr>
          <a:xfrm>
            <a:off x="12756995" y="7805854"/>
            <a:ext cx="1873405" cy="4237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560" y="594360"/>
            <a:ext cx="9373433" cy="536972"/>
          </a:xfrm>
          <a:prstGeom prst="rect">
            <a:avLst/>
          </a:prstGeom>
          <a:noFill/>
          <a:ln/>
        </p:spPr>
        <p:txBody>
          <a:bodyPr wrap="none" lIns="0" tIns="0" rIns="0" bIns="0" rtlCol="0" anchor="t"/>
          <a:lstStyle/>
          <a:p>
            <a:pPr marL="0" indent="0" algn="l">
              <a:lnSpc>
                <a:spcPts val="4200"/>
              </a:lnSpc>
              <a:buNone/>
            </a:pPr>
            <a:r>
              <a:rPr lang="en-US" sz="3350" b="1" dirty="0">
                <a:solidFill>
                  <a:srgbClr val="FF8AAF"/>
                </a:solidFill>
                <a:latin typeface="Petrona Bold" pitchFamily="34" charset="0"/>
                <a:ea typeface="Petrona Bold" pitchFamily="34" charset="-122"/>
                <a:cs typeface="Petrona Bold" pitchFamily="34" charset="-120"/>
              </a:rPr>
              <a:t>Data Cleaning and Missing Value Handling </a:t>
            </a:r>
            <a:r>
              <a:rPr lang="en-US" sz="3350" b="1" dirty="0">
                <a:solidFill>
                  <a:srgbClr val="E0D6DE"/>
                </a:solidFill>
                <a:latin typeface="Petrona Bold" pitchFamily="34" charset="0"/>
                <a:ea typeface="Petrona Bold" pitchFamily="34" charset="-122"/>
                <a:cs typeface="Petrona Bold" pitchFamily="34" charset="-120"/>
              </a:rPr>
              <a:t>(Q2)</a:t>
            </a:r>
            <a:endParaRPr lang="en-US" sz="3350" dirty="0"/>
          </a:p>
        </p:txBody>
      </p:sp>
      <p:sp>
        <p:nvSpPr>
          <p:cNvPr id="3" name="Text 1"/>
          <p:cNvSpPr/>
          <p:nvPr/>
        </p:nvSpPr>
        <p:spPr>
          <a:xfrm>
            <a:off x="863560" y="1401128"/>
            <a:ext cx="12903160" cy="477441"/>
          </a:xfrm>
          <a:prstGeom prst="rect">
            <a:avLst/>
          </a:prstGeom>
          <a:noFill/>
          <a:ln/>
        </p:spPr>
        <p:txBody>
          <a:bodyPr wrap="square" lIns="0" tIns="0" rIns="0" bIns="0" rtlCol="0" anchor="t"/>
          <a:lstStyle/>
          <a:p>
            <a:pPr marL="0" indent="0" algn="l">
              <a:lnSpc>
                <a:spcPts val="1850"/>
              </a:lnSpc>
              <a:buNone/>
            </a:pPr>
            <a:r>
              <a:rPr lang="en-US" sz="1250" dirty="0">
                <a:solidFill>
                  <a:srgbClr val="E0D6DE"/>
                </a:solidFill>
                <a:latin typeface="Inter" pitchFamily="34" charset="0"/>
                <a:ea typeface="Inter" pitchFamily="34" charset="-122"/>
                <a:cs typeface="Inter" pitchFamily="34" charset="-120"/>
              </a:rPr>
              <a:t>To simulate a real-world preprocessing scenario, </a:t>
            </a:r>
            <a:r>
              <a:rPr lang="en-US" sz="1250" b="1" dirty="0">
                <a:solidFill>
                  <a:srgbClr val="E0D6DE"/>
                </a:solidFill>
                <a:latin typeface="Inter" pitchFamily="34" charset="0"/>
                <a:ea typeface="Inter" pitchFamily="34" charset="-122"/>
                <a:cs typeface="Inter" pitchFamily="34" charset="-120"/>
              </a:rPr>
              <a:t>282 artificial NaN values</a:t>
            </a:r>
            <a:r>
              <a:rPr lang="en-US" sz="1250" dirty="0">
                <a:solidFill>
                  <a:srgbClr val="E0D6DE"/>
                </a:solidFill>
                <a:latin typeface="Inter" pitchFamily="34" charset="0"/>
                <a:ea typeface="Inter" pitchFamily="34" charset="-122"/>
                <a:cs typeface="Inter" pitchFamily="34" charset="-120"/>
              </a:rPr>
              <a:t> were randomly inserted across the dataset. Two targeted imputation strategies were then applied to restore completeness — with zero missing values remaining after cleaning.</a:t>
            </a:r>
            <a:endParaRPr lang="en-US" sz="1250" dirty="0"/>
          </a:p>
        </p:txBody>
      </p:sp>
      <p:sp>
        <p:nvSpPr>
          <p:cNvPr id="4" name="Shape 2"/>
          <p:cNvSpPr/>
          <p:nvPr/>
        </p:nvSpPr>
        <p:spPr>
          <a:xfrm>
            <a:off x="863560" y="2030254"/>
            <a:ext cx="6384131" cy="1184434"/>
          </a:xfrm>
          <a:prstGeom prst="roundRect">
            <a:avLst>
              <a:gd name="adj" fmla="val 5802"/>
            </a:avLst>
          </a:prstGeom>
          <a:solidFill>
            <a:srgbClr val="2F1D63"/>
          </a:solidFill>
          <a:ln w="7620">
            <a:solidFill>
              <a:srgbClr val="48367C"/>
            </a:solidFill>
            <a:prstDash val="solid"/>
          </a:ln>
        </p:spPr>
      </p:sp>
      <p:sp>
        <p:nvSpPr>
          <p:cNvPr id="5" name="Text 3"/>
          <p:cNvSpPr/>
          <p:nvPr/>
        </p:nvSpPr>
        <p:spPr>
          <a:xfrm>
            <a:off x="1034772" y="2201466"/>
            <a:ext cx="2481263" cy="283726"/>
          </a:xfrm>
          <a:prstGeom prst="rect">
            <a:avLst/>
          </a:prstGeom>
          <a:noFill/>
          <a:ln/>
        </p:spPr>
        <p:txBody>
          <a:bodyPr wrap="none" lIns="0" tIns="0" rIns="0" bIns="0" rtlCol="0" anchor="t"/>
          <a:lstStyle/>
          <a:p>
            <a:pPr marL="0" indent="0" algn="l">
              <a:lnSpc>
                <a:spcPts val="2100"/>
              </a:lnSpc>
              <a:buNone/>
            </a:pPr>
            <a:r>
              <a:rPr lang="en-US" sz="1650" b="1" dirty="0">
                <a:solidFill>
                  <a:srgbClr val="000000"/>
                </a:solidFill>
                <a:latin typeface="Petrona Bold" pitchFamily="34" charset="0"/>
                <a:ea typeface="Petrona Bold" pitchFamily="34" charset="-122"/>
                <a:cs typeface="Petrona Bold" pitchFamily="34" charset="-120"/>
              </a:rPr>
              <a:t>🔢</a:t>
            </a:r>
            <a:r>
              <a:rPr lang="en-US" sz="1650" b="1" dirty="0">
                <a:solidFill>
                  <a:srgbClr val="E0D6DE"/>
                </a:solidFill>
                <a:latin typeface="Petrona Bold" pitchFamily="34" charset="0"/>
                <a:ea typeface="Petrona Bold" pitchFamily="34" charset="-122"/>
                <a:cs typeface="Petrona Bold" pitchFamily="34" charset="-120"/>
              </a:rPr>
              <a:t> Missing Before Filling</a:t>
            </a:r>
            <a:endParaRPr lang="en-US" sz="1650" dirty="0"/>
          </a:p>
        </p:txBody>
      </p:sp>
      <p:sp>
        <p:nvSpPr>
          <p:cNvPr id="6" name="Text 4"/>
          <p:cNvSpPr/>
          <p:nvPr/>
        </p:nvSpPr>
        <p:spPr>
          <a:xfrm>
            <a:off x="1034772" y="2566035"/>
            <a:ext cx="6041707" cy="477441"/>
          </a:xfrm>
          <a:prstGeom prst="rect">
            <a:avLst/>
          </a:prstGeom>
          <a:noFill/>
          <a:ln/>
        </p:spPr>
        <p:txBody>
          <a:bodyPr wrap="square" lIns="0" tIns="0" rIns="0" bIns="0" rtlCol="0" anchor="t"/>
          <a:lstStyle/>
          <a:p>
            <a:pPr marL="0" indent="0" algn="l">
              <a:lnSpc>
                <a:spcPts val="1850"/>
              </a:lnSpc>
              <a:buNone/>
            </a:pPr>
            <a:r>
              <a:rPr lang="en-US" sz="1250" b="1" dirty="0">
                <a:solidFill>
                  <a:srgbClr val="E0D6DE"/>
                </a:solidFill>
                <a:latin typeface="Inter" pitchFamily="34" charset="0"/>
                <a:ea typeface="Inter" pitchFamily="34" charset="-122"/>
                <a:cs typeface="Inter" pitchFamily="34" charset="-120"/>
              </a:rPr>
              <a:t>282</a:t>
            </a:r>
            <a:r>
              <a:rPr lang="en-US" sz="1250" dirty="0">
                <a:solidFill>
                  <a:srgbClr val="E0D6DE"/>
                </a:solidFill>
                <a:latin typeface="Inter" pitchFamily="34" charset="0"/>
                <a:ea typeface="Inter" pitchFamily="34" charset="-122"/>
                <a:cs typeface="Inter" pitchFamily="34" charset="-120"/>
              </a:rPr>
              <a:t> NaN values across numerical and categorical columns after artificial insertion.</a:t>
            </a:r>
            <a:endParaRPr lang="en-US" sz="1250" dirty="0"/>
          </a:p>
        </p:txBody>
      </p:sp>
      <p:sp>
        <p:nvSpPr>
          <p:cNvPr id="7" name="Shape 5"/>
          <p:cNvSpPr/>
          <p:nvPr/>
        </p:nvSpPr>
        <p:spPr>
          <a:xfrm>
            <a:off x="7382589" y="2030254"/>
            <a:ext cx="6384131" cy="1184434"/>
          </a:xfrm>
          <a:prstGeom prst="roundRect">
            <a:avLst>
              <a:gd name="adj" fmla="val 5802"/>
            </a:avLst>
          </a:prstGeom>
          <a:solidFill>
            <a:srgbClr val="2F1D63"/>
          </a:solidFill>
          <a:ln w="7620">
            <a:solidFill>
              <a:srgbClr val="48367C"/>
            </a:solidFill>
            <a:prstDash val="solid"/>
          </a:ln>
        </p:spPr>
      </p:sp>
      <p:sp>
        <p:nvSpPr>
          <p:cNvPr id="8" name="Text 6"/>
          <p:cNvSpPr/>
          <p:nvPr/>
        </p:nvSpPr>
        <p:spPr>
          <a:xfrm>
            <a:off x="7553801" y="2201466"/>
            <a:ext cx="2341721" cy="283726"/>
          </a:xfrm>
          <a:prstGeom prst="rect">
            <a:avLst/>
          </a:prstGeom>
          <a:noFill/>
          <a:ln/>
        </p:spPr>
        <p:txBody>
          <a:bodyPr wrap="none" lIns="0" tIns="0" rIns="0" bIns="0" rtlCol="0" anchor="t"/>
          <a:lstStyle/>
          <a:p>
            <a:pPr marL="0" indent="0" algn="l">
              <a:lnSpc>
                <a:spcPts val="2100"/>
              </a:lnSpc>
              <a:buNone/>
            </a:pPr>
            <a:r>
              <a:rPr lang="en-US" sz="1650" b="1" dirty="0">
                <a:solidFill>
                  <a:srgbClr val="000000"/>
                </a:solidFill>
                <a:latin typeface="Petrona Bold" pitchFamily="34" charset="0"/>
                <a:ea typeface="Petrona Bold" pitchFamily="34" charset="-122"/>
                <a:cs typeface="Petrona Bold" pitchFamily="34" charset="-120"/>
              </a:rPr>
              <a:t>✅</a:t>
            </a:r>
            <a:r>
              <a:rPr lang="en-US" sz="1650" b="1" dirty="0">
                <a:solidFill>
                  <a:srgbClr val="E0D6DE"/>
                </a:solidFill>
                <a:latin typeface="Petrona Bold" pitchFamily="34" charset="0"/>
                <a:ea typeface="Petrona Bold" pitchFamily="34" charset="-122"/>
                <a:cs typeface="Petrona Bold" pitchFamily="34" charset="-120"/>
              </a:rPr>
              <a:t> Missing After Filling</a:t>
            </a:r>
            <a:endParaRPr lang="en-US" sz="1650" dirty="0"/>
          </a:p>
        </p:txBody>
      </p:sp>
      <p:sp>
        <p:nvSpPr>
          <p:cNvPr id="9" name="Text 7"/>
          <p:cNvSpPr/>
          <p:nvPr/>
        </p:nvSpPr>
        <p:spPr>
          <a:xfrm>
            <a:off x="7553801" y="2566035"/>
            <a:ext cx="6041707" cy="238720"/>
          </a:xfrm>
          <a:prstGeom prst="rect">
            <a:avLst/>
          </a:prstGeom>
          <a:noFill/>
          <a:ln/>
        </p:spPr>
        <p:txBody>
          <a:bodyPr wrap="none" lIns="0" tIns="0" rIns="0" bIns="0" rtlCol="0" anchor="t"/>
          <a:lstStyle/>
          <a:p>
            <a:pPr marL="0" indent="0" algn="l">
              <a:lnSpc>
                <a:spcPts val="1850"/>
              </a:lnSpc>
              <a:buNone/>
            </a:pPr>
            <a:r>
              <a:rPr lang="en-US" sz="1250" b="1" dirty="0">
                <a:solidFill>
                  <a:srgbClr val="E0D6DE"/>
                </a:solidFill>
                <a:latin typeface="Inter" pitchFamily="34" charset="0"/>
                <a:ea typeface="Inter" pitchFamily="34" charset="-122"/>
                <a:cs typeface="Inter" pitchFamily="34" charset="-120"/>
              </a:rPr>
              <a:t>0</a:t>
            </a:r>
            <a:r>
              <a:rPr lang="en-US" sz="1250" dirty="0">
                <a:solidFill>
                  <a:srgbClr val="E0D6DE"/>
                </a:solidFill>
                <a:latin typeface="Inter" pitchFamily="34" charset="0"/>
                <a:ea typeface="Inter" pitchFamily="34" charset="-122"/>
                <a:cs typeface="Inter" pitchFamily="34" charset="-120"/>
              </a:rPr>
              <a:t> missing values remaining — full dataset restored after imputation.</a:t>
            </a:r>
            <a:endParaRPr lang="en-US" sz="1250" dirty="0"/>
          </a:p>
        </p:txBody>
      </p:sp>
      <p:sp>
        <p:nvSpPr>
          <p:cNvPr id="10" name="Shape 8"/>
          <p:cNvSpPr/>
          <p:nvPr/>
        </p:nvSpPr>
        <p:spPr>
          <a:xfrm>
            <a:off x="863560" y="3349585"/>
            <a:ext cx="6384131" cy="1184434"/>
          </a:xfrm>
          <a:prstGeom prst="roundRect">
            <a:avLst>
              <a:gd name="adj" fmla="val 5802"/>
            </a:avLst>
          </a:prstGeom>
          <a:solidFill>
            <a:srgbClr val="2F1D63"/>
          </a:solidFill>
          <a:ln w="7620">
            <a:solidFill>
              <a:srgbClr val="48367C"/>
            </a:solidFill>
            <a:prstDash val="solid"/>
          </a:ln>
        </p:spPr>
      </p:sp>
      <p:sp>
        <p:nvSpPr>
          <p:cNvPr id="11" name="Text 9"/>
          <p:cNvSpPr/>
          <p:nvPr/>
        </p:nvSpPr>
        <p:spPr>
          <a:xfrm>
            <a:off x="1034772" y="3520797"/>
            <a:ext cx="2538174" cy="283726"/>
          </a:xfrm>
          <a:prstGeom prst="rect">
            <a:avLst/>
          </a:prstGeom>
          <a:noFill/>
          <a:ln/>
        </p:spPr>
        <p:txBody>
          <a:bodyPr wrap="none" lIns="0" tIns="0" rIns="0" bIns="0" rtlCol="0" anchor="t"/>
          <a:lstStyle/>
          <a:p>
            <a:pPr marL="0" indent="0" algn="l">
              <a:lnSpc>
                <a:spcPts val="2100"/>
              </a:lnSpc>
              <a:buNone/>
            </a:pPr>
            <a:r>
              <a:rPr lang="en-US" sz="1650" b="1" dirty="0">
                <a:solidFill>
                  <a:srgbClr val="000000"/>
                </a:solidFill>
                <a:latin typeface="Petrona Bold" pitchFamily="34" charset="0"/>
                <a:ea typeface="Petrona Bold" pitchFamily="34" charset="-122"/>
                <a:cs typeface="Petrona Bold" pitchFamily="34" charset="-120"/>
              </a:rPr>
              <a:t>📊</a:t>
            </a:r>
            <a:r>
              <a:rPr lang="en-US" sz="1650" b="1" dirty="0">
                <a:solidFill>
                  <a:srgbClr val="E0D6DE"/>
                </a:solidFill>
                <a:latin typeface="Petrona Bold" pitchFamily="34" charset="0"/>
                <a:ea typeface="Petrona Bold" pitchFamily="34" charset="-122"/>
                <a:cs typeface="Petrona Bold" pitchFamily="34" charset="-120"/>
              </a:rPr>
              <a:t> Numerical Imputation</a:t>
            </a:r>
            <a:endParaRPr lang="en-US" sz="1650" dirty="0"/>
          </a:p>
        </p:txBody>
      </p:sp>
      <p:sp>
        <p:nvSpPr>
          <p:cNvPr id="12" name="Text 10"/>
          <p:cNvSpPr/>
          <p:nvPr/>
        </p:nvSpPr>
        <p:spPr>
          <a:xfrm>
            <a:off x="1034772" y="3885367"/>
            <a:ext cx="6041707" cy="477441"/>
          </a:xfrm>
          <a:prstGeom prst="rect">
            <a:avLst/>
          </a:prstGeom>
          <a:noFill/>
          <a:ln/>
        </p:spPr>
        <p:txBody>
          <a:bodyPr wrap="square" lIns="0" tIns="0" rIns="0" bIns="0" rtlCol="0" anchor="t"/>
          <a:lstStyle/>
          <a:p>
            <a:pPr marL="0" indent="0" algn="l">
              <a:lnSpc>
                <a:spcPts val="1850"/>
              </a:lnSpc>
              <a:buNone/>
            </a:pPr>
            <a:r>
              <a:rPr lang="en-US" sz="1250" b="1" dirty="0">
                <a:solidFill>
                  <a:srgbClr val="E0D6DE"/>
                </a:solidFill>
                <a:latin typeface="Inter" pitchFamily="34" charset="0"/>
                <a:ea typeface="Inter" pitchFamily="34" charset="-122"/>
                <a:cs typeface="Inter" pitchFamily="34" charset="-120"/>
              </a:rPr>
              <a:t>Mean</a:t>
            </a:r>
            <a:r>
              <a:rPr lang="en-US" sz="1250" dirty="0">
                <a:solidFill>
                  <a:srgbClr val="E0D6DE"/>
                </a:solidFill>
                <a:latin typeface="Inter" pitchFamily="34" charset="0"/>
                <a:ea typeface="Inter" pitchFamily="34" charset="-122"/>
                <a:cs typeface="Inter" pitchFamily="34" charset="-120"/>
              </a:rPr>
              <a:t> imputation applied to the </a:t>
            </a:r>
            <a:r>
              <a:rPr lang="en-US" sz="1250" b="1" dirty="0">
                <a:solidFill>
                  <a:srgbClr val="E0D6DE"/>
                </a:solidFill>
                <a:latin typeface="Inter" pitchFamily="34" charset="0"/>
                <a:ea typeface="Inter" pitchFamily="34" charset="-122"/>
                <a:cs typeface="Inter" pitchFamily="34" charset="-120"/>
              </a:rPr>
              <a:t>Age</a:t>
            </a:r>
            <a:r>
              <a:rPr lang="en-US" sz="1250" dirty="0">
                <a:solidFill>
                  <a:srgbClr val="E0D6DE"/>
                </a:solidFill>
                <a:latin typeface="Inter" pitchFamily="34" charset="0"/>
                <a:ea typeface="Inter" pitchFamily="34" charset="-122"/>
                <a:cs typeface="Inter" pitchFamily="34" charset="-120"/>
              </a:rPr>
              <a:t> column. Fills gaps without skewing distribution.</a:t>
            </a:r>
            <a:endParaRPr lang="en-US" sz="1250" dirty="0"/>
          </a:p>
        </p:txBody>
      </p:sp>
      <p:sp>
        <p:nvSpPr>
          <p:cNvPr id="13" name="Shape 11"/>
          <p:cNvSpPr/>
          <p:nvPr/>
        </p:nvSpPr>
        <p:spPr>
          <a:xfrm>
            <a:off x="7382589" y="3349585"/>
            <a:ext cx="6384131" cy="1184434"/>
          </a:xfrm>
          <a:prstGeom prst="roundRect">
            <a:avLst>
              <a:gd name="adj" fmla="val 5802"/>
            </a:avLst>
          </a:prstGeom>
          <a:solidFill>
            <a:srgbClr val="2F1D63"/>
          </a:solidFill>
          <a:ln w="7620">
            <a:solidFill>
              <a:srgbClr val="48367C"/>
            </a:solidFill>
            <a:prstDash val="solid"/>
          </a:ln>
        </p:spPr>
      </p:sp>
      <p:sp>
        <p:nvSpPr>
          <p:cNvPr id="14" name="Text 12"/>
          <p:cNvSpPr/>
          <p:nvPr/>
        </p:nvSpPr>
        <p:spPr>
          <a:xfrm>
            <a:off x="7553801" y="3520797"/>
            <a:ext cx="2605326" cy="283726"/>
          </a:xfrm>
          <a:prstGeom prst="rect">
            <a:avLst/>
          </a:prstGeom>
          <a:noFill/>
          <a:ln/>
        </p:spPr>
        <p:txBody>
          <a:bodyPr wrap="none" lIns="0" tIns="0" rIns="0" bIns="0" rtlCol="0" anchor="t"/>
          <a:lstStyle/>
          <a:p>
            <a:pPr marL="0" indent="0" algn="l">
              <a:lnSpc>
                <a:spcPts val="2100"/>
              </a:lnSpc>
              <a:buNone/>
            </a:pPr>
            <a:r>
              <a:rPr lang="en-US" sz="1650" b="1" dirty="0">
                <a:solidFill>
                  <a:srgbClr val="000000"/>
                </a:solidFill>
                <a:latin typeface="Petrona Bold" pitchFamily="34" charset="0"/>
                <a:ea typeface="Petrona Bold" pitchFamily="34" charset="-122"/>
                <a:cs typeface="Petrona Bold" pitchFamily="34" charset="-120"/>
              </a:rPr>
              <a:t>🔤</a:t>
            </a:r>
            <a:r>
              <a:rPr lang="en-US" sz="1650" b="1" dirty="0">
                <a:solidFill>
                  <a:srgbClr val="E0D6DE"/>
                </a:solidFill>
                <a:latin typeface="Petrona Bold" pitchFamily="34" charset="0"/>
                <a:ea typeface="Petrona Bold" pitchFamily="34" charset="-122"/>
                <a:cs typeface="Petrona Bold" pitchFamily="34" charset="-120"/>
              </a:rPr>
              <a:t> Categorical Imputation</a:t>
            </a:r>
            <a:endParaRPr lang="en-US" sz="1650" dirty="0"/>
          </a:p>
        </p:txBody>
      </p:sp>
      <p:sp>
        <p:nvSpPr>
          <p:cNvPr id="15" name="Text 13"/>
          <p:cNvSpPr/>
          <p:nvPr/>
        </p:nvSpPr>
        <p:spPr>
          <a:xfrm>
            <a:off x="7553801" y="3885367"/>
            <a:ext cx="6041707" cy="477441"/>
          </a:xfrm>
          <a:prstGeom prst="rect">
            <a:avLst/>
          </a:prstGeom>
          <a:noFill/>
          <a:ln/>
        </p:spPr>
        <p:txBody>
          <a:bodyPr wrap="square" lIns="0" tIns="0" rIns="0" bIns="0" rtlCol="0" anchor="t"/>
          <a:lstStyle/>
          <a:p>
            <a:pPr marL="0" indent="0" algn="l">
              <a:lnSpc>
                <a:spcPts val="1850"/>
              </a:lnSpc>
              <a:buNone/>
            </a:pPr>
            <a:r>
              <a:rPr lang="en-US" sz="1250" b="1" dirty="0">
                <a:solidFill>
                  <a:srgbClr val="E0D6DE"/>
                </a:solidFill>
                <a:latin typeface="Inter" pitchFamily="34" charset="0"/>
                <a:ea typeface="Inter" pitchFamily="34" charset="-122"/>
                <a:cs typeface="Inter" pitchFamily="34" charset="-120"/>
              </a:rPr>
              <a:t>Mode</a:t>
            </a:r>
            <a:r>
              <a:rPr lang="en-US" sz="1250" dirty="0">
                <a:solidFill>
                  <a:srgbClr val="E0D6DE"/>
                </a:solidFill>
                <a:latin typeface="Inter" pitchFamily="34" charset="0"/>
                <a:ea typeface="Inter" pitchFamily="34" charset="-122"/>
                <a:cs typeface="Inter" pitchFamily="34" charset="-120"/>
              </a:rPr>
              <a:t> imputation applied to all categorical columns (Gender, symptoms, class).</a:t>
            </a:r>
            <a:endParaRPr lang="en-US" sz="1250" dirty="0"/>
          </a:p>
        </p:txBody>
      </p:sp>
      <p:sp>
        <p:nvSpPr>
          <p:cNvPr id="17" name="Text 14"/>
          <p:cNvSpPr/>
          <p:nvPr/>
        </p:nvSpPr>
        <p:spPr>
          <a:xfrm>
            <a:off x="863560" y="7846338"/>
            <a:ext cx="6251972" cy="171211"/>
          </a:xfrm>
          <a:prstGeom prst="rect">
            <a:avLst/>
          </a:prstGeom>
          <a:noFill/>
          <a:ln/>
        </p:spPr>
        <p:txBody>
          <a:bodyPr wrap="none" lIns="0" tIns="0" rIns="0" bIns="0" rtlCol="0" anchor="t"/>
          <a:lstStyle/>
          <a:p>
            <a:pPr marL="0" indent="0" algn="l">
              <a:lnSpc>
                <a:spcPts val="1850"/>
              </a:lnSpc>
              <a:buNone/>
            </a:pPr>
            <a:r>
              <a:rPr lang="en-US" sz="1250" i="1" dirty="0">
                <a:solidFill>
                  <a:srgbClr val="E0D6DE"/>
                </a:solidFill>
                <a:latin typeface="Inter" pitchFamily="34" charset="0"/>
                <a:ea typeface="Inter" pitchFamily="34" charset="-122"/>
                <a:cs typeface="Inter" pitchFamily="34" charset="-120"/>
              </a:rPr>
              <a:t>Code: Artificial NaN insertion and imputation logic in Python/Pandas</a:t>
            </a:r>
            <a:endParaRPr lang="en-US" sz="1250" dirty="0"/>
          </a:p>
        </p:txBody>
      </p:sp>
      <p:sp>
        <p:nvSpPr>
          <p:cNvPr id="19" name="Text 15"/>
          <p:cNvSpPr/>
          <p:nvPr/>
        </p:nvSpPr>
        <p:spPr>
          <a:xfrm>
            <a:off x="9500838" y="7275076"/>
            <a:ext cx="4962293" cy="238720"/>
          </a:xfrm>
          <a:prstGeom prst="rect">
            <a:avLst/>
          </a:prstGeom>
          <a:noFill/>
          <a:ln/>
        </p:spPr>
        <p:txBody>
          <a:bodyPr wrap="none" lIns="0" tIns="0" rIns="0" bIns="0" rtlCol="0" anchor="t"/>
          <a:lstStyle/>
          <a:p>
            <a:pPr marL="0" indent="0" algn="l">
              <a:lnSpc>
                <a:spcPts val="1850"/>
              </a:lnSpc>
              <a:buNone/>
            </a:pPr>
            <a:r>
              <a:rPr lang="en-US" sz="1250" i="1" dirty="0">
                <a:solidFill>
                  <a:srgbClr val="E0D6DE"/>
                </a:solidFill>
                <a:latin typeface="Inter" pitchFamily="34" charset="0"/>
                <a:ea typeface="Inter" pitchFamily="34" charset="-122"/>
                <a:cs typeface="Inter" pitchFamily="34" charset="-120"/>
              </a:rPr>
              <a:t>Bar chart confirming 0 missing values in all columns after cleaning</a:t>
            </a:r>
            <a:endParaRPr lang="en-US" sz="1250" dirty="0"/>
          </a:p>
        </p:txBody>
      </p:sp>
      <p:pic>
        <p:nvPicPr>
          <p:cNvPr id="21" name="Picture 20">
            <a:extLst>
              <a:ext uri="{FF2B5EF4-FFF2-40B4-BE49-F238E27FC236}">
                <a16:creationId xmlns:a16="http://schemas.microsoft.com/office/drawing/2014/main" id="{0C507E25-AFA7-A2F5-1260-51A167DBB788}"/>
              </a:ext>
            </a:extLst>
          </p:cNvPr>
          <p:cNvPicPr>
            <a:picLocks noChangeAspect="1"/>
          </p:cNvPicPr>
          <p:nvPr/>
        </p:nvPicPr>
        <p:blipFill>
          <a:blip r:embed="rId3"/>
          <a:stretch>
            <a:fillRect/>
          </a:stretch>
        </p:blipFill>
        <p:spPr>
          <a:xfrm>
            <a:off x="10470996" y="4614863"/>
            <a:ext cx="2898552" cy="2606160"/>
          </a:xfrm>
          <a:prstGeom prst="rect">
            <a:avLst/>
          </a:prstGeom>
        </p:spPr>
      </p:pic>
      <p:pic>
        <p:nvPicPr>
          <p:cNvPr id="23" name="Picture 22">
            <a:extLst>
              <a:ext uri="{FF2B5EF4-FFF2-40B4-BE49-F238E27FC236}">
                <a16:creationId xmlns:a16="http://schemas.microsoft.com/office/drawing/2014/main" id="{39A0872B-482C-55CF-520E-2B23E6DF929F}"/>
              </a:ext>
            </a:extLst>
          </p:cNvPr>
          <p:cNvPicPr>
            <a:picLocks noChangeAspect="1"/>
          </p:cNvPicPr>
          <p:nvPr/>
        </p:nvPicPr>
        <p:blipFill>
          <a:blip r:embed="rId4"/>
          <a:stretch>
            <a:fillRect/>
          </a:stretch>
        </p:blipFill>
        <p:spPr>
          <a:xfrm>
            <a:off x="420204" y="4614863"/>
            <a:ext cx="3248548" cy="3231475"/>
          </a:xfrm>
          <a:prstGeom prst="rect">
            <a:avLst/>
          </a:prstGeom>
        </p:spPr>
      </p:pic>
      <p:pic>
        <p:nvPicPr>
          <p:cNvPr id="25" name="Picture 24">
            <a:extLst>
              <a:ext uri="{FF2B5EF4-FFF2-40B4-BE49-F238E27FC236}">
                <a16:creationId xmlns:a16="http://schemas.microsoft.com/office/drawing/2014/main" id="{B2FE75FC-A430-3892-9E9F-25A93540A6CA}"/>
              </a:ext>
            </a:extLst>
          </p:cNvPr>
          <p:cNvPicPr>
            <a:picLocks noChangeAspect="1"/>
          </p:cNvPicPr>
          <p:nvPr/>
        </p:nvPicPr>
        <p:blipFill>
          <a:blip r:embed="rId5"/>
          <a:stretch>
            <a:fillRect/>
          </a:stretch>
        </p:blipFill>
        <p:spPr>
          <a:xfrm>
            <a:off x="3757962" y="4614863"/>
            <a:ext cx="2207941" cy="2979381"/>
          </a:xfrm>
          <a:prstGeom prst="rect">
            <a:avLst/>
          </a:prstGeom>
        </p:spPr>
      </p:pic>
      <p:pic>
        <p:nvPicPr>
          <p:cNvPr id="27" name="Picture 26">
            <a:extLst>
              <a:ext uri="{FF2B5EF4-FFF2-40B4-BE49-F238E27FC236}">
                <a16:creationId xmlns:a16="http://schemas.microsoft.com/office/drawing/2014/main" id="{7726FA3D-4A09-3D6E-F3DE-E3869F0E417A}"/>
              </a:ext>
            </a:extLst>
          </p:cNvPr>
          <p:cNvPicPr>
            <a:picLocks noChangeAspect="1"/>
          </p:cNvPicPr>
          <p:nvPr/>
        </p:nvPicPr>
        <p:blipFill>
          <a:blip r:embed="rId6"/>
          <a:stretch>
            <a:fillRect/>
          </a:stretch>
        </p:blipFill>
        <p:spPr>
          <a:xfrm>
            <a:off x="6668548" y="4614863"/>
            <a:ext cx="2737495" cy="2950062"/>
          </a:xfrm>
          <a:prstGeom prst="rect">
            <a:avLst/>
          </a:prstGeom>
        </p:spPr>
      </p:pic>
      <p:pic>
        <p:nvPicPr>
          <p:cNvPr id="29" name="Picture 28">
            <a:extLst>
              <a:ext uri="{FF2B5EF4-FFF2-40B4-BE49-F238E27FC236}">
                <a16:creationId xmlns:a16="http://schemas.microsoft.com/office/drawing/2014/main" id="{2D4DA2D0-007B-0C11-6114-DE9841CDA7F4}"/>
              </a:ext>
            </a:extLst>
          </p:cNvPr>
          <p:cNvPicPr>
            <a:picLocks noChangeAspect="1"/>
          </p:cNvPicPr>
          <p:nvPr/>
        </p:nvPicPr>
        <p:blipFill>
          <a:blip r:embed="rId7"/>
          <a:stretch>
            <a:fillRect/>
          </a:stretch>
        </p:blipFill>
        <p:spPr>
          <a:xfrm>
            <a:off x="3757962" y="7594244"/>
            <a:ext cx="2910586" cy="171211"/>
          </a:xfrm>
          <a:prstGeom prst="rect">
            <a:avLst/>
          </a:prstGeom>
        </p:spPr>
      </p:pic>
      <p:pic>
        <p:nvPicPr>
          <p:cNvPr id="31" name="Picture 30">
            <a:extLst>
              <a:ext uri="{FF2B5EF4-FFF2-40B4-BE49-F238E27FC236}">
                <a16:creationId xmlns:a16="http://schemas.microsoft.com/office/drawing/2014/main" id="{1DFCF1DB-BDCE-7ACE-3AAA-81A507198CF0}"/>
              </a:ext>
            </a:extLst>
          </p:cNvPr>
          <p:cNvPicPr>
            <a:picLocks noChangeAspect="1"/>
          </p:cNvPicPr>
          <p:nvPr/>
        </p:nvPicPr>
        <p:blipFill>
          <a:blip r:embed="rId8"/>
          <a:stretch>
            <a:fillRect/>
          </a:stretch>
        </p:blipFill>
        <p:spPr>
          <a:xfrm>
            <a:off x="6691332" y="7577728"/>
            <a:ext cx="2910586" cy="188286"/>
          </a:xfrm>
          <a:prstGeom prst="rect">
            <a:avLst/>
          </a:prstGeom>
        </p:spPr>
      </p:pic>
      <p:sp>
        <p:nvSpPr>
          <p:cNvPr id="16" name="Rectangle 15">
            <a:extLst>
              <a:ext uri="{FF2B5EF4-FFF2-40B4-BE49-F238E27FC236}">
                <a16:creationId xmlns:a16="http://schemas.microsoft.com/office/drawing/2014/main" id="{1C0E6982-1DED-D715-857A-18A2245543A9}"/>
              </a:ext>
            </a:extLst>
          </p:cNvPr>
          <p:cNvSpPr/>
          <p:nvPr/>
        </p:nvSpPr>
        <p:spPr>
          <a:xfrm>
            <a:off x="12779298" y="7765455"/>
            <a:ext cx="1851102" cy="4358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395776" y="434459"/>
            <a:ext cx="3581757" cy="409337"/>
          </a:xfrm>
          <a:prstGeom prst="rect">
            <a:avLst/>
          </a:prstGeom>
          <a:noFill/>
          <a:ln/>
        </p:spPr>
        <p:txBody>
          <a:bodyPr wrap="none" lIns="0" tIns="0" rIns="0" bIns="0" rtlCol="0" anchor="t"/>
          <a:lstStyle/>
          <a:p>
            <a:pPr marL="0" indent="0" algn="l">
              <a:lnSpc>
                <a:spcPts val="3200"/>
              </a:lnSpc>
              <a:buNone/>
            </a:pPr>
            <a:r>
              <a:rPr lang="en-US" sz="2550" b="1" dirty="0">
                <a:solidFill>
                  <a:srgbClr val="FF8AAF"/>
                </a:solidFill>
                <a:latin typeface="Petrona Bold" pitchFamily="34" charset="0"/>
                <a:ea typeface="Petrona Bold" pitchFamily="34" charset="-122"/>
                <a:cs typeface="Petrona Bold" pitchFamily="34" charset="-120"/>
              </a:rPr>
              <a:t>Statistical Analysis </a:t>
            </a:r>
            <a:r>
              <a:rPr lang="en-US" sz="2550" b="1" dirty="0">
                <a:solidFill>
                  <a:srgbClr val="E0D6DE"/>
                </a:solidFill>
                <a:latin typeface="Petrona Bold" pitchFamily="34" charset="0"/>
                <a:ea typeface="Petrona Bold" pitchFamily="34" charset="-122"/>
                <a:cs typeface="Petrona Bold" pitchFamily="34" charset="-120"/>
              </a:rPr>
              <a:t>(Q3)</a:t>
            </a:r>
            <a:endParaRPr lang="en-US" sz="2550" dirty="0"/>
          </a:p>
        </p:txBody>
      </p:sp>
      <p:sp>
        <p:nvSpPr>
          <p:cNvPr id="3" name="Text 1"/>
          <p:cNvSpPr/>
          <p:nvPr/>
        </p:nvSpPr>
        <p:spPr>
          <a:xfrm>
            <a:off x="2395776" y="1000601"/>
            <a:ext cx="9838849" cy="325041"/>
          </a:xfrm>
          <a:prstGeom prst="rect">
            <a:avLst/>
          </a:prstGeom>
          <a:noFill/>
          <a:ln/>
        </p:spPr>
        <p:txBody>
          <a:bodyPr wrap="squar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Descriptive statistics were computed for all columns. Since </a:t>
            </a:r>
            <a:r>
              <a:rPr lang="en-US" sz="950" b="1" dirty="0">
                <a:solidFill>
                  <a:srgbClr val="E0D6DE"/>
                </a:solidFill>
                <a:latin typeface="Inter" pitchFamily="34" charset="0"/>
                <a:ea typeface="Inter" pitchFamily="34" charset="-122"/>
                <a:cs typeface="Inter" pitchFamily="34" charset="-120"/>
              </a:rPr>
              <a:t>Age</a:t>
            </a:r>
            <a:r>
              <a:rPr lang="en-US" sz="950" dirty="0">
                <a:solidFill>
                  <a:srgbClr val="E0D6DE"/>
                </a:solidFill>
                <a:latin typeface="Inter" pitchFamily="34" charset="0"/>
                <a:ea typeface="Inter" pitchFamily="34" charset="-122"/>
                <a:cs typeface="Inter" pitchFamily="34" charset="-120"/>
              </a:rPr>
              <a:t> is the only numerical feature, the key statistical measures below apply to it. Categorical columns were analyzed separately for frequency and mode.</a:t>
            </a:r>
            <a:endParaRPr lang="en-US" sz="950" dirty="0"/>
          </a:p>
        </p:txBody>
      </p:sp>
      <p:sp>
        <p:nvSpPr>
          <p:cNvPr id="4" name="Shape 2"/>
          <p:cNvSpPr/>
          <p:nvPr/>
        </p:nvSpPr>
        <p:spPr>
          <a:xfrm>
            <a:off x="2395776" y="1502092"/>
            <a:ext cx="4767262" cy="2733437"/>
          </a:xfrm>
          <a:prstGeom prst="roundRect">
            <a:avLst>
              <a:gd name="adj" fmla="val 1917"/>
            </a:avLst>
          </a:prstGeom>
          <a:noFill/>
          <a:ln w="7620">
            <a:solidFill>
              <a:srgbClr val="FFFFFF">
                <a:alpha val="24000"/>
              </a:srgbClr>
            </a:solidFill>
            <a:prstDash val="solid"/>
          </a:ln>
        </p:spPr>
      </p:sp>
      <p:sp>
        <p:nvSpPr>
          <p:cNvPr id="5" name="Shape 3"/>
          <p:cNvSpPr/>
          <p:nvPr/>
        </p:nvSpPr>
        <p:spPr>
          <a:xfrm>
            <a:off x="2403396" y="1509713"/>
            <a:ext cx="4752023" cy="271820"/>
          </a:xfrm>
          <a:prstGeom prst="rect">
            <a:avLst/>
          </a:prstGeom>
          <a:solidFill>
            <a:srgbClr val="FFFFFF">
              <a:alpha val="4000"/>
            </a:srgbClr>
          </a:solidFill>
          <a:ln/>
        </p:spPr>
      </p:sp>
      <p:sp>
        <p:nvSpPr>
          <p:cNvPr id="6" name="Text 4"/>
          <p:cNvSpPr/>
          <p:nvPr/>
        </p:nvSpPr>
        <p:spPr>
          <a:xfrm>
            <a:off x="2528054" y="1564362"/>
            <a:ext cx="2122884" cy="162520"/>
          </a:xfrm>
          <a:prstGeom prst="rect">
            <a:avLst/>
          </a:prstGeom>
          <a:noFill/>
          <a:ln/>
        </p:spPr>
        <p:txBody>
          <a:bodyPr wrap="none" lIns="0" tIns="0" rIns="0" bIns="0" rtlCol="0" anchor="t"/>
          <a:lstStyle/>
          <a:p>
            <a:pPr marL="0" indent="0" algn="l">
              <a:lnSpc>
                <a:spcPts val="1250"/>
              </a:lnSpc>
              <a:buNone/>
            </a:pPr>
            <a:r>
              <a:rPr lang="en-US" sz="950" b="1" dirty="0">
                <a:solidFill>
                  <a:srgbClr val="E0D6DE"/>
                </a:solidFill>
                <a:latin typeface="Inter" pitchFamily="34" charset="0"/>
                <a:ea typeface="Inter" pitchFamily="34" charset="-122"/>
                <a:cs typeface="Inter" pitchFamily="34" charset="-120"/>
              </a:rPr>
              <a:t>Statistic</a:t>
            </a:r>
            <a:endParaRPr lang="en-US" sz="950" dirty="0"/>
          </a:p>
        </p:txBody>
      </p:sp>
      <p:sp>
        <p:nvSpPr>
          <p:cNvPr id="7" name="Text 5"/>
          <p:cNvSpPr/>
          <p:nvPr/>
        </p:nvSpPr>
        <p:spPr>
          <a:xfrm>
            <a:off x="4907875" y="1564362"/>
            <a:ext cx="2122884" cy="162520"/>
          </a:xfrm>
          <a:prstGeom prst="rect">
            <a:avLst/>
          </a:prstGeom>
          <a:noFill/>
          <a:ln/>
        </p:spPr>
        <p:txBody>
          <a:bodyPr wrap="none" lIns="0" tIns="0" rIns="0" bIns="0" rtlCol="0" anchor="t"/>
          <a:lstStyle/>
          <a:p>
            <a:pPr marL="0" indent="0" algn="l">
              <a:lnSpc>
                <a:spcPts val="1250"/>
              </a:lnSpc>
              <a:buNone/>
            </a:pPr>
            <a:r>
              <a:rPr lang="en-US" sz="950" b="1" dirty="0">
                <a:solidFill>
                  <a:srgbClr val="E0D6DE"/>
                </a:solidFill>
                <a:latin typeface="Inter" pitchFamily="34" charset="0"/>
                <a:ea typeface="Inter" pitchFamily="34" charset="-122"/>
                <a:cs typeface="Inter" pitchFamily="34" charset="-120"/>
              </a:rPr>
              <a:t>Value (Age)</a:t>
            </a:r>
            <a:endParaRPr lang="en-US" sz="950" dirty="0"/>
          </a:p>
        </p:txBody>
      </p:sp>
      <p:sp>
        <p:nvSpPr>
          <p:cNvPr id="8" name="Shape 6"/>
          <p:cNvSpPr/>
          <p:nvPr/>
        </p:nvSpPr>
        <p:spPr>
          <a:xfrm>
            <a:off x="2403396" y="1781532"/>
            <a:ext cx="4752023" cy="271820"/>
          </a:xfrm>
          <a:prstGeom prst="rect">
            <a:avLst/>
          </a:prstGeom>
          <a:solidFill>
            <a:srgbClr val="000000">
              <a:alpha val="4000"/>
            </a:srgbClr>
          </a:solidFill>
          <a:ln/>
        </p:spPr>
      </p:sp>
      <p:sp>
        <p:nvSpPr>
          <p:cNvPr id="9" name="Text 7"/>
          <p:cNvSpPr/>
          <p:nvPr/>
        </p:nvSpPr>
        <p:spPr>
          <a:xfrm>
            <a:off x="2528054" y="1836182"/>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Count</a:t>
            </a:r>
            <a:endParaRPr lang="en-US" sz="950" dirty="0"/>
          </a:p>
        </p:txBody>
      </p:sp>
      <p:sp>
        <p:nvSpPr>
          <p:cNvPr id="10" name="Text 8"/>
          <p:cNvSpPr/>
          <p:nvPr/>
        </p:nvSpPr>
        <p:spPr>
          <a:xfrm>
            <a:off x="4907875" y="1836182"/>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520</a:t>
            </a:r>
            <a:endParaRPr lang="en-US" sz="950" dirty="0"/>
          </a:p>
        </p:txBody>
      </p:sp>
      <p:sp>
        <p:nvSpPr>
          <p:cNvPr id="11" name="Shape 9"/>
          <p:cNvSpPr/>
          <p:nvPr/>
        </p:nvSpPr>
        <p:spPr>
          <a:xfrm>
            <a:off x="2403396" y="2053352"/>
            <a:ext cx="4752023" cy="271820"/>
          </a:xfrm>
          <a:prstGeom prst="rect">
            <a:avLst/>
          </a:prstGeom>
          <a:solidFill>
            <a:srgbClr val="FFFFFF">
              <a:alpha val="4000"/>
            </a:srgbClr>
          </a:solidFill>
          <a:ln/>
        </p:spPr>
      </p:sp>
      <p:sp>
        <p:nvSpPr>
          <p:cNvPr id="12" name="Text 10"/>
          <p:cNvSpPr/>
          <p:nvPr/>
        </p:nvSpPr>
        <p:spPr>
          <a:xfrm>
            <a:off x="2528054" y="2108002"/>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Mean</a:t>
            </a:r>
            <a:endParaRPr lang="en-US" sz="950" dirty="0"/>
          </a:p>
        </p:txBody>
      </p:sp>
      <p:sp>
        <p:nvSpPr>
          <p:cNvPr id="13" name="Text 11"/>
          <p:cNvSpPr/>
          <p:nvPr/>
        </p:nvSpPr>
        <p:spPr>
          <a:xfrm>
            <a:off x="4907875" y="2108002"/>
            <a:ext cx="2122884" cy="162520"/>
          </a:xfrm>
          <a:prstGeom prst="rect">
            <a:avLst/>
          </a:prstGeom>
          <a:noFill/>
          <a:ln/>
        </p:spPr>
        <p:txBody>
          <a:bodyPr wrap="none" lIns="0" tIns="0" rIns="0" bIns="0" rtlCol="0" anchor="t"/>
          <a:lstStyle/>
          <a:p>
            <a:pPr marL="0" indent="0" algn="l">
              <a:lnSpc>
                <a:spcPts val="1250"/>
              </a:lnSpc>
              <a:buNone/>
            </a:pPr>
            <a:r>
              <a:rPr lang="en-US" sz="950" b="1" dirty="0">
                <a:solidFill>
                  <a:srgbClr val="E0D6DE"/>
                </a:solidFill>
                <a:latin typeface="Inter" pitchFamily="34" charset="0"/>
                <a:ea typeface="Inter" pitchFamily="34" charset="-122"/>
                <a:cs typeface="Inter" pitchFamily="34" charset="-120"/>
              </a:rPr>
              <a:t>48.0425</a:t>
            </a:r>
            <a:endParaRPr lang="en-US" sz="950" dirty="0"/>
          </a:p>
        </p:txBody>
      </p:sp>
      <p:sp>
        <p:nvSpPr>
          <p:cNvPr id="14" name="Shape 12"/>
          <p:cNvSpPr/>
          <p:nvPr/>
        </p:nvSpPr>
        <p:spPr>
          <a:xfrm>
            <a:off x="2403396" y="2325172"/>
            <a:ext cx="4752023" cy="271820"/>
          </a:xfrm>
          <a:prstGeom prst="rect">
            <a:avLst/>
          </a:prstGeom>
          <a:solidFill>
            <a:srgbClr val="000000">
              <a:alpha val="4000"/>
            </a:srgbClr>
          </a:solidFill>
          <a:ln/>
        </p:spPr>
      </p:sp>
      <p:sp>
        <p:nvSpPr>
          <p:cNvPr id="15" name="Text 13"/>
          <p:cNvSpPr/>
          <p:nvPr/>
        </p:nvSpPr>
        <p:spPr>
          <a:xfrm>
            <a:off x="2528054" y="2379821"/>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Median</a:t>
            </a:r>
            <a:endParaRPr lang="en-US" sz="950" dirty="0"/>
          </a:p>
        </p:txBody>
      </p:sp>
      <p:sp>
        <p:nvSpPr>
          <p:cNvPr id="16" name="Text 14"/>
          <p:cNvSpPr/>
          <p:nvPr/>
        </p:nvSpPr>
        <p:spPr>
          <a:xfrm>
            <a:off x="4907875" y="2379821"/>
            <a:ext cx="2122884" cy="162520"/>
          </a:xfrm>
          <a:prstGeom prst="rect">
            <a:avLst/>
          </a:prstGeom>
          <a:noFill/>
          <a:ln/>
        </p:spPr>
        <p:txBody>
          <a:bodyPr wrap="none" lIns="0" tIns="0" rIns="0" bIns="0" rtlCol="0" anchor="t"/>
          <a:lstStyle/>
          <a:p>
            <a:pPr marL="0" indent="0" algn="l">
              <a:lnSpc>
                <a:spcPts val="1250"/>
              </a:lnSpc>
              <a:buNone/>
            </a:pPr>
            <a:r>
              <a:rPr lang="en-US" sz="950" b="1" dirty="0">
                <a:solidFill>
                  <a:srgbClr val="E0D6DE"/>
                </a:solidFill>
                <a:latin typeface="Inter" pitchFamily="34" charset="0"/>
                <a:ea typeface="Inter" pitchFamily="34" charset="-122"/>
                <a:cs typeface="Inter" pitchFamily="34" charset="-120"/>
              </a:rPr>
              <a:t>48.0</a:t>
            </a:r>
            <a:endParaRPr lang="en-US" sz="950" dirty="0"/>
          </a:p>
        </p:txBody>
      </p:sp>
      <p:sp>
        <p:nvSpPr>
          <p:cNvPr id="17" name="Shape 15"/>
          <p:cNvSpPr/>
          <p:nvPr/>
        </p:nvSpPr>
        <p:spPr>
          <a:xfrm>
            <a:off x="2403396" y="2596991"/>
            <a:ext cx="4752023" cy="271820"/>
          </a:xfrm>
          <a:prstGeom prst="rect">
            <a:avLst/>
          </a:prstGeom>
          <a:solidFill>
            <a:srgbClr val="FFFFFF">
              <a:alpha val="4000"/>
            </a:srgbClr>
          </a:solidFill>
          <a:ln/>
        </p:spPr>
      </p:sp>
      <p:sp>
        <p:nvSpPr>
          <p:cNvPr id="18" name="Text 16"/>
          <p:cNvSpPr/>
          <p:nvPr/>
        </p:nvSpPr>
        <p:spPr>
          <a:xfrm>
            <a:off x="2528054" y="2651641"/>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Std. Deviation</a:t>
            </a:r>
            <a:endParaRPr lang="en-US" sz="950" dirty="0"/>
          </a:p>
        </p:txBody>
      </p:sp>
      <p:sp>
        <p:nvSpPr>
          <p:cNvPr id="19" name="Text 17"/>
          <p:cNvSpPr/>
          <p:nvPr/>
        </p:nvSpPr>
        <p:spPr>
          <a:xfrm>
            <a:off x="4907875" y="2651641"/>
            <a:ext cx="2122884" cy="162520"/>
          </a:xfrm>
          <a:prstGeom prst="rect">
            <a:avLst/>
          </a:prstGeom>
          <a:noFill/>
          <a:ln/>
        </p:spPr>
        <p:txBody>
          <a:bodyPr wrap="none" lIns="0" tIns="0" rIns="0" bIns="0" rtlCol="0" anchor="t"/>
          <a:lstStyle/>
          <a:p>
            <a:pPr marL="0" indent="0" algn="l">
              <a:lnSpc>
                <a:spcPts val="1250"/>
              </a:lnSpc>
              <a:buNone/>
            </a:pPr>
            <a:r>
              <a:rPr lang="en-US" sz="950" b="1" dirty="0">
                <a:solidFill>
                  <a:srgbClr val="E0D6DE"/>
                </a:solidFill>
                <a:latin typeface="Inter" pitchFamily="34" charset="0"/>
                <a:ea typeface="Inter" pitchFamily="34" charset="-122"/>
                <a:cs typeface="Inter" pitchFamily="34" charset="-120"/>
              </a:rPr>
              <a:t>11.8775</a:t>
            </a:r>
            <a:endParaRPr lang="en-US" sz="950" dirty="0"/>
          </a:p>
        </p:txBody>
      </p:sp>
      <p:sp>
        <p:nvSpPr>
          <p:cNvPr id="20" name="Shape 18"/>
          <p:cNvSpPr/>
          <p:nvPr/>
        </p:nvSpPr>
        <p:spPr>
          <a:xfrm>
            <a:off x="2403396" y="2868811"/>
            <a:ext cx="4752023" cy="271820"/>
          </a:xfrm>
          <a:prstGeom prst="rect">
            <a:avLst/>
          </a:prstGeom>
          <a:solidFill>
            <a:srgbClr val="000000">
              <a:alpha val="4000"/>
            </a:srgbClr>
          </a:solidFill>
          <a:ln/>
        </p:spPr>
      </p:sp>
      <p:sp>
        <p:nvSpPr>
          <p:cNvPr id="21" name="Text 19"/>
          <p:cNvSpPr/>
          <p:nvPr/>
        </p:nvSpPr>
        <p:spPr>
          <a:xfrm>
            <a:off x="2528054" y="2923461"/>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Minimum</a:t>
            </a:r>
            <a:endParaRPr lang="en-US" sz="950" dirty="0"/>
          </a:p>
        </p:txBody>
      </p:sp>
      <p:sp>
        <p:nvSpPr>
          <p:cNvPr id="22" name="Text 20"/>
          <p:cNvSpPr/>
          <p:nvPr/>
        </p:nvSpPr>
        <p:spPr>
          <a:xfrm>
            <a:off x="4907875" y="2923461"/>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16</a:t>
            </a:r>
            <a:endParaRPr lang="en-US" sz="950" dirty="0"/>
          </a:p>
        </p:txBody>
      </p:sp>
      <p:sp>
        <p:nvSpPr>
          <p:cNvPr id="23" name="Shape 21"/>
          <p:cNvSpPr/>
          <p:nvPr/>
        </p:nvSpPr>
        <p:spPr>
          <a:xfrm>
            <a:off x="2403396" y="3140631"/>
            <a:ext cx="4752023" cy="271820"/>
          </a:xfrm>
          <a:prstGeom prst="rect">
            <a:avLst/>
          </a:prstGeom>
          <a:solidFill>
            <a:srgbClr val="FFFFFF">
              <a:alpha val="4000"/>
            </a:srgbClr>
          </a:solidFill>
          <a:ln/>
        </p:spPr>
      </p:sp>
      <p:sp>
        <p:nvSpPr>
          <p:cNvPr id="24" name="Text 22"/>
          <p:cNvSpPr/>
          <p:nvPr/>
        </p:nvSpPr>
        <p:spPr>
          <a:xfrm>
            <a:off x="2528054" y="3195280"/>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Maximum</a:t>
            </a:r>
            <a:endParaRPr lang="en-US" sz="950" dirty="0"/>
          </a:p>
        </p:txBody>
      </p:sp>
      <p:sp>
        <p:nvSpPr>
          <p:cNvPr id="25" name="Text 23"/>
          <p:cNvSpPr/>
          <p:nvPr/>
        </p:nvSpPr>
        <p:spPr>
          <a:xfrm>
            <a:off x="4907875" y="3195280"/>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90</a:t>
            </a:r>
            <a:endParaRPr lang="en-US" sz="950" dirty="0"/>
          </a:p>
        </p:txBody>
      </p:sp>
      <p:sp>
        <p:nvSpPr>
          <p:cNvPr id="26" name="Shape 24"/>
          <p:cNvSpPr/>
          <p:nvPr/>
        </p:nvSpPr>
        <p:spPr>
          <a:xfrm>
            <a:off x="2403396" y="3412450"/>
            <a:ext cx="4752023" cy="271820"/>
          </a:xfrm>
          <a:prstGeom prst="rect">
            <a:avLst/>
          </a:prstGeom>
          <a:solidFill>
            <a:srgbClr val="000000">
              <a:alpha val="4000"/>
            </a:srgbClr>
          </a:solidFill>
          <a:ln/>
        </p:spPr>
      </p:sp>
      <p:sp>
        <p:nvSpPr>
          <p:cNvPr id="27" name="Text 25"/>
          <p:cNvSpPr/>
          <p:nvPr/>
        </p:nvSpPr>
        <p:spPr>
          <a:xfrm>
            <a:off x="2528054" y="3467100"/>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Range</a:t>
            </a:r>
            <a:endParaRPr lang="en-US" sz="950" dirty="0"/>
          </a:p>
        </p:txBody>
      </p:sp>
      <p:sp>
        <p:nvSpPr>
          <p:cNvPr id="28" name="Text 26"/>
          <p:cNvSpPr/>
          <p:nvPr/>
        </p:nvSpPr>
        <p:spPr>
          <a:xfrm>
            <a:off x="4907875" y="3467100"/>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74</a:t>
            </a:r>
            <a:endParaRPr lang="en-US" sz="950" dirty="0"/>
          </a:p>
        </p:txBody>
      </p:sp>
      <p:sp>
        <p:nvSpPr>
          <p:cNvPr id="29" name="Shape 27"/>
          <p:cNvSpPr/>
          <p:nvPr/>
        </p:nvSpPr>
        <p:spPr>
          <a:xfrm>
            <a:off x="2403396" y="3684270"/>
            <a:ext cx="4752023" cy="271820"/>
          </a:xfrm>
          <a:prstGeom prst="rect">
            <a:avLst/>
          </a:prstGeom>
          <a:solidFill>
            <a:srgbClr val="FFFFFF">
              <a:alpha val="4000"/>
            </a:srgbClr>
          </a:solidFill>
          <a:ln/>
        </p:spPr>
      </p:sp>
      <p:sp>
        <p:nvSpPr>
          <p:cNvPr id="30" name="Text 28"/>
          <p:cNvSpPr/>
          <p:nvPr/>
        </p:nvSpPr>
        <p:spPr>
          <a:xfrm>
            <a:off x="2528054" y="3738920"/>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Variance</a:t>
            </a:r>
            <a:endParaRPr lang="en-US" sz="950" dirty="0"/>
          </a:p>
        </p:txBody>
      </p:sp>
      <p:sp>
        <p:nvSpPr>
          <p:cNvPr id="31" name="Text 29"/>
          <p:cNvSpPr/>
          <p:nvPr/>
        </p:nvSpPr>
        <p:spPr>
          <a:xfrm>
            <a:off x="4907875" y="3738920"/>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~141.07</a:t>
            </a:r>
            <a:endParaRPr lang="en-US" sz="950" dirty="0"/>
          </a:p>
        </p:txBody>
      </p:sp>
      <p:sp>
        <p:nvSpPr>
          <p:cNvPr id="32" name="Shape 30"/>
          <p:cNvSpPr/>
          <p:nvPr/>
        </p:nvSpPr>
        <p:spPr>
          <a:xfrm>
            <a:off x="2403396" y="3956090"/>
            <a:ext cx="4752023" cy="271820"/>
          </a:xfrm>
          <a:prstGeom prst="rect">
            <a:avLst/>
          </a:prstGeom>
          <a:solidFill>
            <a:srgbClr val="000000">
              <a:alpha val="4000"/>
            </a:srgbClr>
          </a:solidFill>
          <a:ln/>
        </p:spPr>
      </p:sp>
      <p:sp>
        <p:nvSpPr>
          <p:cNvPr id="33" name="Text 31"/>
          <p:cNvSpPr/>
          <p:nvPr/>
        </p:nvSpPr>
        <p:spPr>
          <a:xfrm>
            <a:off x="2528054" y="4010739"/>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Mode</a:t>
            </a:r>
            <a:endParaRPr lang="en-US" sz="950" dirty="0"/>
          </a:p>
        </p:txBody>
      </p:sp>
      <p:sp>
        <p:nvSpPr>
          <p:cNvPr id="34" name="Text 32"/>
          <p:cNvSpPr/>
          <p:nvPr/>
        </p:nvSpPr>
        <p:spPr>
          <a:xfrm>
            <a:off x="4907875" y="4010739"/>
            <a:ext cx="2122884" cy="162520"/>
          </a:xfrm>
          <a:prstGeom prst="rect">
            <a:avLst/>
          </a:prstGeom>
          <a:noFill/>
          <a:ln/>
        </p:spPr>
        <p:txBody>
          <a:bodyPr wrap="none" lIns="0" tIns="0" rIns="0" bIns="0" rtlCol="0" anchor="t"/>
          <a:lstStyle/>
          <a:p>
            <a:pPr marL="0" indent="0" algn="l">
              <a:lnSpc>
                <a:spcPts val="1250"/>
              </a:lnSpc>
              <a:buNone/>
            </a:pPr>
            <a:r>
              <a:rPr lang="en-US" sz="950" dirty="0">
                <a:solidFill>
                  <a:srgbClr val="E0D6DE"/>
                </a:solidFill>
                <a:latin typeface="Inter" pitchFamily="34" charset="0"/>
                <a:ea typeface="Inter" pitchFamily="34" charset="-122"/>
                <a:cs typeface="Inter" pitchFamily="34" charset="-120"/>
              </a:rPr>
              <a:t>45</a:t>
            </a:r>
            <a:endParaRPr lang="en-US" sz="950" dirty="0"/>
          </a:p>
        </p:txBody>
      </p:sp>
      <p:sp>
        <p:nvSpPr>
          <p:cNvPr id="35" name="Text 33"/>
          <p:cNvSpPr/>
          <p:nvPr/>
        </p:nvSpPr>
        <p:spPr>
          <a:xfrm>
            <a:off x="7474982" y="1564362"/>
            <a:ext cx="4767262" cy="411718"/>
          </a:xfrm>
          <a:prstGeom prst="rect">
            <a:avLst/>
          </a:prstGeom>
          <a:noFill/>
          <a:ln/>
        </p:spPr>
        <p:txBody>
          <a:bodyPr wrap="none" lIns="0" tIns="0" rIns="0" bIns="0" rtlCol="0" anchor="t"/>
          <a:lstStyle/>
          <a:p>
            <a:pPr marL="0" indent="0" algn="ctr">
              <a:lnSpc>
                <a:spcPts val="3200"/>
              </a:lnSpc>
              <a:buNone/>
            </a:pPr>
            <a:r>
              <a:rPr lang="en-US" sz="3200" b="1" dirty="0">
                <a:solidFill>
                  <a:srgbClr val="E0D6DE"/>
                </a:solidFill>
                <a:latin typeface="Petrona Bold" pitchFamily="34" charset="0"/>
                <a:ea typeface="Petrona Bold" pitchFamily="34" charset="-122"/>
                <a:cs typeface="Petrona Bold" pitchFamily="34" charset="-120"/>
              </a:rPr>
              <a:t>48.04</a:t>
            </a:r>
            <a:endParaRPr lang="en-US" sz="3200" dirty="0"/>
          </a:p>
        </p:txBody>
      </p:sp>
      <p:sp>
        <p:nvSpPr>
          <p:cNvPr id="36" name="Text 34"/>
          <p:cNvSpPr/>
          <p:nvPr/>
        </p:nvSpPr>
        <p:spPr>
          <a:xfrm>
            <a:off x="9039820" y="2097167"/>
            <a:ext cx="1637586" cy="204549"/>
          </a:xfrm>
          <a:prstGeom prst="rect">
            <a:avLst/>
          </a:prstGeom>
          <a:noFill/>
          <a:ln/>
        </p:spPr>
        <p:txBody>
          <a:bodyPr wrap="none" lIns="0" tIns="0" rIns="0" bIns="0" rtlCol="0" anchor="t"/>
          <a:lstStyle/>
          <a:p>
            <a:pPr marL="0" indent="0" algn="ctr">
              <a:lnSpc>
                <a:spcPts val="1600"/>
              </a:lnSpc>
              <a:buNone/>
            </a:pPr>
            <a:r>
              <a:rPr lang="en-US" sz="1250" b="1" dirty="0">
                <a:solidFill>
                  <a:srgbClr val="E0D6DE"/>
                </a:solidFill>
                <a:latin typeface="Petrona Bold" pitchFamily="34" charset="0"/>
                <a:ea typeface="Petrona Bold" pitchFamily="34" charset="-122"/>
                <a:cs typeface="Petrona Bold" pitchFamily="34" charset="-120"/>
              </a:rPr>
              <a:t>Mean Age</a:t>
            </a:r>
            <a:endParaRPr lang="en-US" sz="1250" dirty="0"/>
          </a:p>
        </p:txBody>
      </p:sp>
      <p:sp>
        <p:nvSpPr>
          <p:cNvPr id="37" name="Text 35"/>
          <p:cNvSpPr/>
          <p:nvPr/>
        </p:nvSpPr>
        <p:spPr>
          <a:xfrm>
            <a:off x="7474982" y="2380059"/>
            <a:ext cx="4767262" cy="162520"/>
          </a:xfrm>
          <a:prstGeom prst="rect">
            <a:avLst/>
          </a:prstGeom>
          <a:noFill/>
          <a:ln/>
        </p:spPr>
        <p:txBody>
          <a:bodyPr wrap="none" lIns="0" tIns="0" rIns="0" bIns="0" rtlCol="0" anchor="t"/>
          <a:lstStyle/>
          <a:p>
            <a:pPr marL="0" indent="0" algn="ctr">
              <a:lnSpc>
                <a:spcPts val="1250"/>
              </a:lnSpc>
              <a:buNone/>
            </a:pPr>
            <a:r>
              <a:rPr lang="en-US" sz="950" dirty="0">
                <a:solidFill>
                  <a:srgbClr val="E0D6DE"/>
                </a:solidFill>
                <a:latin typeface="Inter" pitchFamily="34" charset="0"/>
                <a:ea typeface="Inter" pitchFamily="34" charset="-122"/>
                <a:cs typeface="Inter" pitchFamily="34" charset="-120"/>
              </a:rPr>
              <a:t>Average patient age across all 520 records</a:t>
            </a:r>
            <a:endParaRPr lang="en-US" sz="950" dirty="0"/>
          </a:p>
        </p:txBody>
      </p:sp>
      <p:sp>
        <p:nvSpPr>
          <p:cNvPr id="38" name="Text 36"/>
          <p:cNvSpPr/>
          <p:nvPr/>
        </p:nvSpPr>
        <p:spPr>
          <a:xfrm>
            <a:off x="7474982" y="2761655"/>
            <a:ext cx="4767262" cy="411718"/>
          </a:xfrm>
          <a:prstGeom prst="rect">
            <a:avLst/>
          </a:prstGeom>
          <a:noFill/>
          <a:ln/>
        </p:spPr>
        <p:txBody>
          <a:bodyPr wrap="none" lIns="0" tIns="0" rIns="0" bIns="0" rtlCol="0" anchor="t"/>
          <a:lstStyle/>
          <a:p>
            <a:pPr marL="0" indent="0" algn="ctr">
              <a:lnSpc>
                <a:spcPts val="3200"/>
              </a:lnSpc>
              <a:buNone/>
            </a:pPr>
            <a:r>
              <a:rPr lang="en-US" sz="3200" b="1" dirty="0">
                <a:solidFill>
                  <a:srgbClr val="E0D6DE"/>
                </a:solidFill>
                <a:latin typeface="Petrona Bold" pitchFamily="34" charset="0"/>
                <a:ea typeface="Petrona Bold" pitchFamily="34" charset="-122"/>
                <a:cs typeface="Petrona Bold" pitchFamily="34" charset="-120"/>
              </a:rPr>
              <a:t>11.88</a:t>
            </a:r>
            <a:endParaRPr lang="en-US" sz="3200" dirty="0"/>
          </a:p>
        </p:txBody>
      </p:sp>
      <p:sp>
        <p:nvSpPr>
          <p:cNvPr id="39" name="Text 37"/>
          <p:cNvSpPr/>
          <p:nvPr/>
        </p:nvSpPr>
        <p:spPr>
          <a:xfrm>
            <a:off x="9039820" y="3294459"/>
            <a:ext cx="1637586" cy="204549"/>
          </a:xfrm>
          <a:prstGeom prst="rect">
            <a:avLst/>
          </a:prstGeom>
          <a:noFill/>
          <a:ln/>
        </p:spPr>
        <p:txBody>
          <a:bodyPr wrap="none" lIns="0" tIns="0" rIns="0" bIns="0" rtlCol="0" anchor="t"/>
          <a:lstStyle/>
          <a:p>
            <a:pPr marL="0" indent="0" algn="ctr">
              <a:lnSpc>
                <a:spcPts val="1600"/>
              </a:lnSpc>
              <a:buNone/>
            </a:pPr>
            <a:r>
              <a:rPr lang="en-US" sz="1250" b="1" dirty="0">
                <a:solidFill>
                  <a:srgbClr val="E0D6DE"/>
                </a:solidFill>
                <a:latin typeface="Petrona Bold" pitchFamily="34" charset="0"/>
                <a:ea typeface="Petrona Bold" pitchFamily="34" charset="-122"/>
                <a:cs typeface="Petrona Bold" pitchFamily="34" charset="-120"/>
              </a:rPr>
              <a:t>Std. Deviation</a:t>
            </a:r>
            <a:endParaRPr lang="en-US" sz="1250" dirty="0"/>
          </a:p>
        </p:txBody>
      </p:sp>
      <p:sp>
        <p:nvSpPr>
          <p:cNvPr id="40" name="Text 38"/>
          <p:cNvSpPr/>
          <p:nvPr/>
        </p:nvSpPr>
        <p:spPr>
          <a:xfrm>
            <a:off x="7474982" y="3577352"/>
            <a:ext cx="4767262" cy="162520"/>
          </a:xfrm>
          <a:prstGeom prst="rect">
            <a:avLst/>
          </a:prstGeom>
          <a:noFill/>
          <a:ln/>
        </p:spPr>
        <p:txBody>
          <a:bodyPr wrap="none" lIns="0" tIns="0" rIns="0" bIns="0" rtlCol="0" anchor="t"/>
          <a:lstStyle/>
          <a:p>
            <a:pPr marL="0" indent="0" algn="ctr">
              <a:lnSpc>
                <a:spcPts val="1250"/>
              </a:lnSpc>
              <a:buNone/>
            </a:pPr>
            <a:r>
              <a:rPr lang="en-US" sz="950" dirty="0">
                <a:solidFill>
                  <a:srgbClr val="E0D6DE"/>
                </a:solidFill>
                <a:latin typeface="Inter" pitchFamily="34" charset="0"/>
                <a:ea typeface="Inter" pitchFamily="34" charset="-122"/>
                <a:cs typeface="Inter" pitchFamily="34" charset="-120"/>
              </a:rPr>
              <a:t>Spread of age values around the mean</a:t>
            </a:r>
            <a:endParaRPr lang="en-US" sz="950" dirty="0"/>
          </a:p>
        </p:txBody>
      </p:sp>
      <p:sp>
        <p:nvSpPr>
          <p:cNvPr id="41" name="Text 39"/>
          <p:cNvSpPr/>
          <p:nvPr/>
        </p:nvSpPr>
        <p:spPr>
          <a:xfrm>
            <a:off x="7474982" y="3958947"/>
            <a:ext cx="4767262" cy="411718"/>
          </a:xfrm>
          <a:prstGeom prst="rect">
            <a:avLst/>
          </a:prstGeom>
          <a:noFill/>
          <a:ln/>
        </p:spPr>
        <p:txBody>
          <a:bodyPr wrap="none" lIns="0" tIns="0" rIns="0" bIns="0" rtlCol="0" anchor="t"/>
          <a:lstStyle/>
          <a:p>
            <a:pPr marL="0" indent="0" algn="ctr">
              <a:lnSpc>
                <a:spcPts val="3200"/>
              </a:lnSpc>
              <a:buNone/>
            </a:pPr>
            <a:r>
              <a:rPr lang="en-US" sz="3200" b="1" dirty="0">
                <a:solidFill>
                  <a:srgbClr val="E0D6DE"/>
                </a:solidFill>
                <a:latin typeface="Petrona Bold" pitchFamily="34" charset="0"/>
                <a:ea typeface="Petrona Bold" pitchFamily="34" charset="-122"/>
                <a:cs typeface="Petrona Bold" pitchFamily="34" charset="-120"/>
              </a:rPr>
              <a:t>74</a:t>
            </a:r>
            <a:endParaRPr lang="en-US" sz="3200" dirty="0"/>
          </a:p>
        </p:txBody>
      </p:sp>
      <p:sp>
        <p:nvSpPr>
          <p:cNvPr id="42" name="Text 40"/>
          <p:cNvSpPr/>
          <p:nvPr/>
        </p:nvSpPr>
        <p:spPr>
          <a:xfrm>
            <a:off x="9039820" y="4491752"/>
            <a:ext cx="1637586" cy="204549"/>
          </a:xfrm>
          <a:prstGeom prst="rect">
            <a:avLst/>
          </a:prstGeom>
          <a:noFill/>
          <a:ln/>
        </p:spPr>
        <p:txBody>
          <a:bodyPr wrap="none" lIns="0" tIns="0" rIns="0" bIns="0" rtlCol="0" anchor="t"/>
          <a:lstStyle/>
          <a:p>
            <a:pPr marL="0" indent="0" algn="ctr">
              <a:lnSpc>
                <a:spcPts val="1600"/>
              </a:lnSpc>
              <a:buNone/>
            </a:pPr>
            <a:r>
              <a:rPr lang="en-US" sz="1250" b="1" dirty="0">
                <a:solidFill>
                  <a:srgbClr val="E0D6DE"/>
                </a:solidFill>
                <a:latin typeface="Petrona Bold" pitchFamily="34" charset="0"/>
                <a:ea typeface="Petrona Bold" pitchFamily="34" charset="-122"/>
                <a:cs typeface="Petrona Bold" pitchFamily="34" charset="-120"/>
              </a:rPr>
              <a:t>Age Range</a:t>
            </a:r>
            <a:endParaRPr lang="en-US" sz="1250" dirty="0"/>
          </a:p>
        </p:txBody>
      </p:sp>
      <p:sp>
        <p:nvSpPr>
          <p:cNvPr id="43" name="Text 41"/>
          <p:cNvSpPr/>
          <p:nvPr/>
        </p:nvSpPr>
        <p:spPr>
          <a:xfrm>
            <a:off x="7474982" y="4774644"/>
            <a:ext cx="4767262" cy="162520"/>
          </a:xfrm>
          <a:prstGeom prst="rect">
            <a:avLst/>
          </a:prstGeom>
          <a:noFill/>
          <a:ln/>
        </p:spPr>
        <p:txBody>
          <a:bodyPr wrap="none" lIns="0" tIns="0" rIns="0" bIns="0" rtlCol="0" anchor="t"/>
          <a:lstStyle/>
          <a:p>
            <a:pPr marL="0" indent="0" algn="ctr">
              <a:lnSpc>
                <a:spcPts val="1250"/>
              </a:lnSpc>
              <a:buNone/>
            </a:pPr>
            <a:r>
              <a:rPr lang="en-US" sz="950" dirty="0">
                <a:solidFill>
                  <a:srgbClr val="E0D6DE"/>
                </a:solidFill>
                <a:latin typeface="Inter" pitchFamily="34" charset="0"/>
                <a:ea typeface="Inter" pitchFamily="34" charset="-122"/>
                <a:cs typeface="Inter" pitchFamily="34" charset="-120"/>
              </a:rPr>
              <a:t>From age 16 (min) to age 90 (max)</a:t>
            </a:r>
            <a:endParaRPr lang="en-US" sz="950" dirty="0"/>
          </a:p>
        </p:txBody>
      </p:sp>
      <p:sp>
        <p:nvSpPr>
          <p:cNvPr id="45" name="Text 42"/>
          <p:cNvSpPr/>
          <p:nvPr/>
        </p:nvSpPr>
        <p:spPr>
          <a:xfrm>
            <a:off x="10705397" y="7593981"/>
            <a:ext cx="4767262" cy="635620"/>
          </a:xfrm>
          <a:prstGeom prst="rect">
            <a:avLst/>
          </a:prstGeom>
          <a:noFill/>
          <a:ln/>
        </p:spPr>
        <p:txBody>
          <a:bodyPr wrap="square" lIns="0" tIns="0" rIns="0" bIns="0" rtlCol="0" anchor="t"/>
          <a:lstStyle/>
          <a:p>
            <a:pPr marL="0" indent="0" algn="l">
              <a:lnSpc>
                <a:spcPts val="1250"/>
              </a:lnSpc>
              <a:buNone/>
            </a:pPr>
            <a:endParaRPr lang="en-US" sz="950" dirty="0"/>
          </a:p>
        </p:txBody>
      </p:sp>
      <p:pic>
        <p:nvPicPr>
          <p:cNvPr id="47" name="Picture 46">
            <a:extLst>
              <a:ext uri="{FF2B5EF4-FFF2-40B4-BE49-F238E27FC236}">
                <a16:creationId xmlns:a16="http://schemas.microsoft.com/office/drawing/2014/main" id="{FBC0137A-D705-5387-F7CF-0C199A1218FE}"/>
              </a:ext>
            </a:extLst>
          </p:cNvPr>
          <p:cNvPicPr>
            <a:picLocks noChangeAspect="1"/>
          </p:cNvPicPr>
          <p:nvPr/>
        </p:nvPicPr>
        <p:blipFill>
          <a:blip r:embed="rId3"/>
          <a:stretch>
            <a:fillRect/>
          </a:stretch>
        </p:blipFill>
        <p:spPr>
          <a:xfrm>
            <a:off x="2286001" y="4507349"/>
            <a:ext cx="5188982" cy="3217308"/>
          </a:xfrm>
          <a:prstGeom prst="rect">
            <a:avLst/>
          </a:prstGeom>
        </p:spPr>
      </p:pic>
      <p:sp>
        <p:nvSpPr>
          <p:cNvPr id="44" name="Rectangle 43">
            <a:extLst>
              <a:ext uri="{FF2B5EF4-FFF2-40B4-BE49-F238E27FC236}">
                <a16:creationId xmlns:a16="http://schemas.microsoft.com/office/drawing/2014/main" id="{E465E2E3-B64C-7718-C91B-728D6D856280}"/>
              </a:ext>
            </a:extLst>
          </p:cNvPr>
          <p:cNvSpPr/>
          <p:nvPr/>
        </p:nvSpPr>
        <p:spPr>
          <a:xfrm>
            <a:off x="12790449" y="7724657"/>
            <a:ext cx="1839951" cy="504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41690" y="687348"/>
            <a:ext cx="9140666" cy="513755"/>
          </a:xfrm>
          <a:prstGeom prst="rect">
            <a:avLst/>
          </a:prstGeom>
          <a:noFill/>
          <a:ln/>
        </p:spPr>
        <p:txBody>
          <a:bodyPr wrap="none" lIns="0" tIns="0" rIns="0" bIns="0" rtlCol="0" anchor="t"/>
          <a:lstStyle/>
          <a:p>
            <a:pPr marL="0" indent="0" algn="l">
              <a:lnSpc>
                <a:spcPts val="4000"/>
              </a:lnSpc>
              <a:buNone/>
            </a:pPr>
            <a:r>
              <a:rPr lang="en-US" sz="3200" b="1" dirty="0">
                <a:solidFill>
                  <a:srgbClr val="FF8AAF"/>
                </a:solidFill>
                <a:latin typeface="Petrona Bold" pitchFamily="34" charset="0"/>
                <a:ea typeface="Petrona Bold" pitchFamily="34" charset="-122"/>
                <a:cs typeface="Petrona Bold" pitchFamily="34" charset="-120"/>
              </a:rPr>
              <a:t>Unique Values and Frequency Counts </a:t>
            </a:r>
            <a:r>
              <a:rPr lang="en-US" sz="3200" b="1" dirty="0">
                <a:solidFill>
                  <a:srgbClr val="E0D6DE"/>
                </a:solidFill>
                <a:latin typeface="Petrona Bold" pitchFamily="34" charset="0"/>
                <a:ea typeface="Petrona Bold" pitchFamily="34" charset="-122"/>
                <a:cs typeface="Petrona Bold" pitchFamily="34" charset="-120"/>
              </a:rPr>
              <a:t>(Q3 Part 2)</a:t>
            </a:r>
            <a:endParaRPr lang="en-US" sz="3200" dirty="0"/>
          </a:p>
        </p:txBody>
      </p:sp>
      <p:sp>
        <p:nvSpPr>
          <p:cNvPr id="3" name="Text 1"/>
          <p:cNvSpPr/>
          <p:nvPr/>
        </p:nvSpPr>
        <p:spPr>
          <a:xfrm>
            <a:off x="1141690" y="1448038"/>
            <a:ext cx="12347019" cy="447913"/>
          </a:xfrm>
          <a:prstGeom prst="rect">
            <a:avLst/>
          </a:prstGeom>
          <a:noFill/>
          <a:ln/>
        </p:spPr>
        <p:txBody>
          <a:bodyPr wrap="squar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A systematic analysis of unique values was performed across all 17 columns. This step provides insight into feature cardinality and confirms the binary nature of most symptom variables — a key property for categorical encoding.</a:t>
            </a:r>
            <a:endParaRPr lang="en-US" sz="1200" dirty="0"/>
          </a:p>
        </p:txBody>
      </p:sp>
      <p:sp>
        <p:nvSpPr>
          <p:cNvPr id="4" name="Shape 2"/>
          <p:cNvSpPr/>
          <p:nvPr/>
        </p:nvSpPr>
        <p:spPr>
          <a:xfrm>
            <a:off x="1141690" y="2173843"/>
            <a:ext cx="5982533" cy="3167063"/>
          </a:xfrm>
          <a:prstGeom prst="roundRect">
            <a:avLst>
              <a:gd name="adj" fmla="val 2076"/>
            </a:avLst>
          </a:prstGeom>
          <a:noFill/>
          <a:ln w="7620">
            <a:solidFill>
              <a:srgbClr val="FFFFFF">
                <a:alpha val="24000"/>
              </a:srgbClr>
            </a:solidFill>
            <a:prstDash val="solid"/>
          </a:ln>
        </p:spPr>
      </p:sp>
      <p:sp>
        <p:nvSpPr>
          <p:cNvPr id="5" name="Text 3"/>
          <p:cNvSpPr/>
          <p:nvPr/>
        </p:nvSpPr>
        <p:spPr>
          <a:xfrm>
            <a:off x="1306711" y="2263140"/>
            <a:ext cx="1671638" cy="223957"/>
          </a:xfrm>
          <a:prstGeom prst="rect">
            <a:avLst/>
          </a:prstGeom>
          <a:noFill/>
          <a:ln/>
        </p:spPr>
        <p:txBody>
          <a:bodyPr wrap="none" lIns="0" tIns="0" rIns="0" bIns="0" rtlCol="0" anchor="t"/>
          <a:lstStyle/>
          <a:p>
            <a:pPr marL="0" indent="0" algn="l">
              <a:lnSpc>
                <a:spcPts val="1750"/>
              </a:lnSpc>
              <a:buNone/>
            </a:pPr>
            <a:r>
              <a:rPr lang="en-US" sz="1200" b="1" dirty="0">
                <a:solidFill>
                  <a:srgbClr val="E0D6DE"/>
                </a:solidFill>
                <a:latin typeface="Inter" pitchFamily="34" charset="0"/>
                <a:ea typeface="Inter" pitchFamily="34" charset="-122"/>
                <a:cs typeface="Inter" pitchFamily="34" charset="-120"/>
              </a:rPr>
              <a:t>Column</a:t>
            </a:r>
            <a:endParaRPr lang="en-US" sz="1200" dirty="0"/>
          </a:p>
        </p:txBody>
      </p:sp>
      <p:sp>
        <p:nvSpPr>
          <p:cNvPr id="6" name="Text 4"/>
          <p:cNvSpPr/>
          <p:nvPr/>
        </p:nvSpPr>
        <p:spPr>
          <a:xfrm>
            <a:off x="3299103" y="2263140"/>
            <a:ext cx="1667828" cy="223957"/>
          </a:xfrm>
          <a:prstGeom prst="rect">
            <a:avLst/>
          </a:prstGeom>
          <a:noFill/>
          <a:ln/>
        </p:spPr>
        <p:txBody>
          <a:bodyPr wrap="none" lIns="0" tIns="0" rIns="0" bIns="0" rtlCol="0" anchor="t"/>
          <a:lstStyle/>
          <a:p>
            <a:pPr marL="0" indent="0" algn="l">
              <a:lnSpc>
                <a:spcPts val="1750"/>
              </a:lnSpc>
              <a:buNone/>
            </a:pPr>
            <a:r>
              <a:rPr lang="en-US" sz="1200" b="1" dirty="0">
                <a:solidFill>
                  <a:srgbClr val="E0D6DE"/>
                </a:solidFill>
                <a:latin typeface="Inter" pitchFamily="34" charset="0"/>
                <a:ea typeface="Inter" pitchFamily="34" charset="-122"/>
                <a:cs typeface="Inter" pitchFamily="34" charset="-120"/>
              </a:rPr>
              <a:t>Unique Values</a:t>
            </a:r>
            <a:endParaRPr lang="en-US" sz="1200" dirty="0"/>
          </a:p>
        </p:txBody>
      </p:sp>
      <p:sp>
        <p:nvSpPr>
          <p:cNvPr id="7" name="Text 5"/>
          <p:cNvSpPr/>
          <p:nvPr/>
        </p:nvSpPr>
        <p:spPr>
          <a:xfrm>
            <a:off x="5287685" y="2263140"/>
            <a:ext cx="1671638" cy="223957"/>
          </a:xfrm>
          <a:prstGeom prst="rect">
            <a:avLst/>
          </a:prstGeom>
          <a:noFill/>
          <a:ln/>
        </p:spPr>
        <p:txBody>
          <a:bodyPr wrap="none" lIns="0" tIns="0" rIns="0" bIns="0" rtlCol="0" anchor="t"/>
          <a:lstStyle/>
          <a:p>
            <a:pPr marL="0" indent="0" algn="l">
              <a:lnSpc>
                <a:spcPts val="1750"/>
              </a:lnSpc>
              <a:buNone/>
            </a:pPr>
            <a:r>
              <a:rPr lang="en-US" sz="1200" b="1" dirty="0">
                <a:solidFill>
                  <a:srgbClr val="E0D6DE"/>
                </a:solidFill>
                <a:latin typeface="Inter" pitchFamily="34" charset="0"/>
                <a:ea typeface="Inter" pitchFamily="34" charset="-122"/>
                <a:cs typeface="Inter" pitchFamily="34" charset="-120"/>
              </a:rPr>
              <a:t>Type</a:t>
            </a:r>
            <a:endParaRPr lang="en-US" sz="1200" dirty="0"/>
          </a:p>
        </p:txBody>
      </p:sp>
      <p:sp>
        <p:nvSpPr>
          <p:cNvPr id="8" name="Text 6"/>
          <p:cNvSpPr/>
          <p:nvPr/>
        </p:nvSpPr>
        <p:spPr>
          <a:xfrm>
            <a:off x="1306711" y="2658070"/>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Age</a:t>
            </a:r>
            <a:endParaRPr lang="en-US" sz="1200" dirty="0"/>
          </a:p>
        </p:txBody>
      </p:sp>
      <p:sp>
        <p:nvSpPr>
          <p:cNvPr id="9" name="Text 7"/>
          <p:cNvSpPr/>
          <p:nvPr/>
        </p:nvSpPr>
        <p:spPr>
          <a:xfrm>
            <a:off x="3299103" y="2658070"/>
            <a:ext cx="166782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52</a:t>
            </a:r>
            <a:endParaRPr lang="en-US" sz="1200" dirty="0"/>
          </a:p>
        </p:txBody>
      </p:sp>
      <p:sp>
        <p:nvSpPr>
          <p:cNvPr id="10" name="Text 8"/>
          <p:cNvSpPr/>
          <p:nvPr/>
        </p:nvSpPr>
        <p:spPr>
          <a:xfrm>
            <a:off x="5287685" y="2658070"/>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Numerical</a:t>
            </a:r>
            <a:endParaRPr lang="en-US" sz="1200" dirty="0"/>
          </a:p>
        </p:txBody>
      </p:sp>
      <p:sp>
        <p:nvSpPr>
          <p:cNvPr id="11" name="Text 9"/>
          <p:cNvSpPr/>
          <p:nvPr/>
        </p:nvSpPr>
        <p:spPr>
          <a:xfrm>
            <a:off x="1306711" y="3053001"/>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Gender</a:t>
            </a:r>
            <a:endParaRPr lang="en-US" sz="1200" dirty="0"/>
          </a:p>
        </p:txBody>
      </p:sp>
      <p:sp>
        <p:nvSpPr>
          <p:cNvPr id="12" name="Text 10"/>
          <p:cNvSpPr/>
          <p:nvPr/>
        </p:nvSpPr>
        <p:spPr>
          <a:xfrm>
            <a:off x="3299103" y="3053001"/>
            <a:ext cx="166782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2 (Male/Female)</a:t>
            </a:r>
            <a:endParaRPr lang="en-US" sz="1200" dirty="0"/>
          </a:p>
        </p:txBody>
      </p:sp>
      <p:sp>
        <p:nvSpPr>
          <p:cNvPr id="13" name="Text 11"/>
          <p:cNvSpPr/>
          <p:nvPr/>
        </p:nvSpPr>
        <p:spPr>
          <a:xfrm>
            <a:off x="5287685" y="3053001"/>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Categorical</a:t>
            </a:r>
            <a:endParaRPr lang="en-US" sz="1200" dirty="0"/>
          </a:p>
        </p:txBody>
      </p:sp>
      <p:sp>
        <p:nvSpPr>
          <p:cNvPr id="14" name="Text 12"/>
          <p:cNvSpPr/>
          <p:nvPr/>
        </p:nvSpPr>
        <p:spPr>
          <a:xfrm>
            <a:off x="1306711" y="3447931"/>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Polyuria</a:t>
            </a:r>
            <a:endParaRPr lang="en-US" sz="1200" dirty="0"/>
          </a:p>
        </p:txBody>
      </p:sp>
      <p:sp>
        <p:nvSpPr>
          <p:cNvPr id="15" name="Text 13"/>
          <p:cNvSpPr/>
          <p:nvPr/>
        </p:nvSpPr>
        <p:spPr>
          <a:xfrm>
            <a:off x="3299103" y="3447931"/>
            <a:ext cx="166782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2 (Yes/No)</a:t>
            </a:r>
            <a:endParaRPr lang="en-US" sz="1200" dirty="0"/>
          </a:p>
        </p:txBody>
      </p:sp>
      <p:sp>
        <p:nvSpPr>
          <p:cNvPr id="16" name="Text 14"/>
          <p:cNvSpPr/>
          <p:nvPr/>
        </p:nvSpPr>
        <p:spPr>
          <a:xfrm>
            <a:off x="5287685" y="3447931"/>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Binary</a:t>
            </a:r>
            <a:endParaRPr lang="en-US" sz="1200" dirty="0"/>
          </a:p>
        </p:txBody>
      </p:sp>
      <p:sp>
        <p:nvSpPr>
          <p:cNvPr id="17" name="Text 15"/>
          <p:cNvSpPr/>
          <p:nvPr/>
        </p:nvSpPr>
        <p:spPr>
          <a:xfrm>
            <a:off x="1306711" y="3842861"/>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Polydipsia</a:t>
            </a:r>
            <a:endParaRPr lang="en-US" sz="1200" dirty="0"/>
          </a:p>
        </p:txBody>
      </p:sp>
      <p:sp>
        <p:nvSpPr>
          <p:cNvPr id="18" name="Text 16"/>
          <p:cNvSpPr/>
          <p:nvPr/>
        </p:nvSpPr>
        <p:spPr>
          <a:xfrm>
            <a:off x="3299103" y="3842861"/>
            <a:ext cx="166782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2 (Yes/No)</a:t>
            </a:r>
            <a:endParaRPr lang="en-US" sz="1200" dirty="0"/>
          </a:p>
        </p:txBody>
      </p:sp>
      <p:sp>
        <p:nvSpPr>
          <p:cNvPr id="19" name="Text 17"/>
          <p:cNvSpPr/>
          <p:nvPr/>
        </p:nvSpPr>
        <p:spPr>
          <a:xfrm>
            <a:off x="5287685" y="3842861"/>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Binary</a:t>
            </a:r>
            <a:endParaRPr lang="en-US" sz="1200" dirty="0"/>
          </a:p>
        </p:txBody>
      </p:sp>
      <p:sp>
        <p:nvSpPr>
          <p:cNvPr id="20" name="Text 18"/>
          <p:cNvSpPr/>
          <p:nvPr/>
        </p:nvSpPr>
        <p:spPr>
          <a:xfrm>
            <a:off x="1306711" y="4237792"/>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sudden weight loss</a:t>
            </a:r>
            <a:endParaRPr lang="en-US" sz="1200" dirty="0"/>
          </a:p>
        </p:txBody>
      </p:sp>
      <p:sp>
        <p:nvSpPr>
          <p:cNvPr id="21" name="Text 19"/>
          <p:cNvSpPr/>
          <p:nvPr/>
        </p:nvSpPr>
        <p:spPr>
          <a:xfrm>
            <a:off x="3299103" y="4237792"/>
            <a:ext cx="166782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2 (Yes/No)</a:t>
            </a:r>
            <a:endParaRPr lang="en-US" sz="1200" dirty="0"/>
          </a:p>
        </p:txBody>
      </p:sp>
      <p:sp>
        <p:nvSpPr>
          <p:cNvPr id="22" name="Text 20"/>
          <p:cNvSpPr/>
          <p:nvPr/>
        </p:nvSpPr>
        <p:spPr>
          <a:xfrm>
            <a:off x="5287685" y="4237792"/>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Binary</a:t>
            </a:r>
            <a:endParaRPr lang="en-US" sz="1200" dirty="0"/>
          </a:p>
        </p:txBody>
      </p:sp>
      <p:sp>
        <p:nvSpPr>
          <p:cNvPr id="23" name="Text 21"/>
          <p:cNvSpPr/>
          <p:nvPr/>
        </p:nvSpPr>
        <p:spPr>
          <a:xfrm>
            <a:off x="1306711" y="4632722"/>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 (other symptoms)</a:t>
            </a:r>
            <a:endParaRPr lang="en-US" sz="1200" dirty="0"/>
          </a:p>
        </p:txBody>
      </p:sp>
      <p:sp>
        <p:nvSpPr>
          <p:cNvPr id="24" name="Text 22"/>
          <p:cNvSpPr/>
          <p:nvPr/>
        </p:nvSpPr>
        <p:spPr>
          <a:xfrm>
            <a:off x="3299103" y="4632722"/>
            <a:ext cx="166782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2 (Yes/No)</a:t>
            </a:r>
            <a:endParaRPr lang="en-US" sz="1200" dirty="0"/>
          </a:p>
        </p:txBody>
      </p:sp>
      <p:sp>
        <p:nvSpPr>
          <p:cNvPr id="25" name="Text 23"/>
          <p:cNvSpPr/>
          <p:nvPr/>
        </p:nvSpPr>
        <p:spPr>
          <a:xfrm>
            <a:off x="5287685" y="4632722"/>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Binary</a:t>
            </a:r>
            <a:endParaRPr lang="en-US" sz="1200" dirty="0"/>
          </a:p>
        </p:txBody>
      </p:sp>
      <p:sp>
        <p:nvSpPr>
          <p:cNvPr id="26" name="Text 24"/>
          <p:cNvSpPr/>
          <p:nvPr/>
        </p:nvSpPr>
        <p:spPr>
          <a:xfrm>
            <a:off x="1306711" y="5027652"/>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class</a:t>
            </a:r>
            <a:endParaRPr lang="en-US" sz="1200" dirty="0"/>
          </a:p>
        </p:txBody>
      </p:sp>
      <p:sp>
        <p:nvSpPr>
          <p:cNvPr id="27" name="Text 25"/>
          <p:cNvSpPr/>
          <p:nvPr/>
        </p:nvSpPr>
        <p:spPr>
          <a:xfrm>
            <a:off x="3299103" y="5027652"/>
            <a:ext cx="166782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2 (Positive/Negative)</a:t>
            </a:r>
            <a:endParaRPr lang="en-US" sz="1200" dirty="0"/>
          </a:p>
        </p:txBody>
      </p:sp>
      <p:sp>
        <p:nvSpPr>
          <p:cNvPr id="28" name="Text 26"/>
          <p:cNvSpPr/>
          <p:nvPr/>
        </p:nvSpPr>
        <p:spPr>
          <a:xfrm>
            <a:off x="5287685" y="5027652"/>
            <a:ext cx="1671638"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Target</a:t>
            </a:r>
            <a:endParaRPr lang="en-US" sz="1200" dirty="0"/>
          </a:p>
        </p:txBody>
      </p:sp>
      <p:sp>
        <p:nvSpPr>
          <p:cNvPr id="29" name="Shape 27"/>
          <p:cNvSpPr/>
          <p:nvPr/>
        </p:nvSpPr>
        <p:spPr>
          <a:xfrm>
            <a:off x="7513796" y="2173843"/>
            <a:ext cx="2929533" cy="1413391"/>
          </a:xfrm>
          <a:prstGeom prst="roundRect">
            <a:avLst>
              <a:gd name="adj" fmla="val 4653"/>
            </a:avLst>
          </a:prstGeom>
          <a:solidFill>
            <a:srgbClr val="2F1D63"/>
          </a:solidFill>
          <a:ln w="7620">
            <a:solidFill>
              <a:srgbClr val="48367C"/>
            </a:solidFill>
            <a:prstDash val="solid"/>
          </a:ln>
        </p:spPr>
      </p:sp>
      <p:sp>
        <p:nvSpPr>
          <p:cNvPr id="30" name="Text 28"/>
          <p:cNvSpPr/>
          <p:nvPr/>
        </p:nvSpPr>
        <p:spPr>
          <a:xfrm>
            <a:off x="7677983" y="2338030"/>
            <a:ext cx="2076093" cy="256818"/>
          </a:xfrm>
          <a:prstGeom prst="rect">
            <a:avLst/>
          </a:prstGeom>
          <a:noFill/>
          <a:ln/>
        </p:spPr>
        <p:txBody>
          <a:bodyPr wrap="none" lIns="0" tIns="0" rIns="0" bIns="0" rtlCol="0" anchor="t"/>
          <a:lstStyle/>
          <a:p>
            <a:pPr marL="0" indent="0" algn="l">
              <a:lnSpc>
                <a:spcPts val="2000"/>
              </a:lnSpc>
              <a:buNone/>
            </a:pPr>
            <a:r>
              <a:rPr lang="en-US" sz="1600" b="1" dirty="0">
                <a:solidFill>
                  <a:srgbClr val="E0D6DE"/>
                </a:solidFill>
                <a:latin typeface="Petrona Bold" pitchFamily="34" charset="0"/>
                <a:ea typeface="Petrona Bold" pitchFamily="34" charset="-122"/>
                <a:cs typeface="Petrona Bold" pitchFamily="34" charset="-120"/>
              </a:rPr>
              <a:t>Age: 52 Unique Values</a:t>
            </a:r>
            <a:endParaRPr lang="en-US" sz="1600" dirty="0"/>
          </a:p>
        </p:txBody>
      </p:sp>
      <p:sp>
        <p:nvSpPr>
          <p:cNvPr id="31" name="Text 29"/>
          <p:cNvSpPr/>
          <p:nvPr/>
        </p:nvSpPr>
        <p:spPr>
          <a:xfrm>
            <a:off x="7677983" y="2718316"/>
            <a:ext cx="2601158" cy="447913"/>
          </a:xfrm>
          <a:prstGeom prst="rect">
            <a:avLst/>
          </a:prstGeom>
          <a:noFill/>
          <a:ln/>
        </p:spPr>
        <p:txBody>
          <a:bodyPr wrap="squar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Wide distribution across the full integer range — from age 16 to 90.</a:t>
            </a:r>
            <a:endParaRPr lang="en-US" sz="1200" dirty="0"/>
          </a:p>
        </p:txBody>
      </p:sp>
      <p:sp>
        <p:nvSpPr>
          <p:cNvPr id="32" name="Shape 30"/>
          <p:cNvSpPr/>
          <p:nvPr/>
        </p:nvSpPr>
        <p:spPr>
          <a:xfrm>
            <a:off x="10566797" y="2173843"/>
            <a:ext cx="2929533" cy="1413391"/>
          </a:xfrm>
          <a:prstGeom prst="roundRect">
            <a:avLst>
              <a:gd name="adj" fmla="val 4653"/>
            </a:avLst>
          </a:prstGeom>
          <a:solidFill>
            <a:srgbClr val="2F1D63"/>
          </a:solidFill>
          <a:ln w="7620">
            <a:solidFill>
              <a:srgbClr val="48367C"/>
            </a:solidFill>
            <a:prstDash val="solid"/>
          </a:ln>
        </p:spPr>
      </p:sp>
      <p:sp>
        <p:nvSpPr>
          <p:cNvPr id="33" name="Text 31"/>
          <p:cNvSpPr/>
          <p:nvPr/>
        </p:nvSpPr>
        <p:spPr>
          <a:xfrm>
            <a:off x="10730984" y="2338030"/>
            <a:ext cx="2601158" cy="513636"/>
          </a:xfrm>
          <a:prstGeom prst="rect">
            <a:avLst/>
          </a:prstGeom>
          <a:noFill/>
          <a:ln/>
        </p:spPr>
        <p:txBody>
          <a:bodyPr wrap="square" lIns="0" tIns="0" rIns="0" bIns="0" rtlCol="0" anchor="t"/>
          <a:lstStyle/>
          <a:p>
            <a:pPr marL="0" indent="0" algn="l">
              <a:lnSpc>
                <a:spcPts val="2000"/>
              </a:lnSpc>
              <a:buNone/>
            </a:pPr>
            <a:r>
              <a:rPr lang="en-US" sz="1600" b="1" dirty="0">
                <a:solidFill>
                  <a:srgbClr val="E0D6DE"/>
                </a:solidFill>
                <a:latin typeface="Petrona Bold" pitchFamily="34" charset="0"/>
                <a:ea typeface="Petrona Bold" pitchFamily="34" charset="-122"/>
                <a:cs typeface="Petrona Bold" pitchFamily="34" charset="-120"/>
              </a:rPr>
              <a:t>Binary Symptoms: 2 Unique Values</a:t>
            </a:r>
            <a:endParaRPr lang="en-US" sz="1600" dirty="0"/>
          </a:p>
        </p:txBody>
      </p:sp>
      <p:sp>
        <p:nvSpPr>
          <p:cNvPr id="34" name="Text 32"/>
          <p:cNvSpPr/>
          <p:nvPr/>
        </p:nvSpPr>
        <p:spPr>
          <a:xfrm>
            <a:off x="10730984" y="2975134"/>
            <a:ext cx="2601158" cy="447913"/>
          </a:xfrm>
          <a:prstGeom prst="rect">
            <a:avLst/>
          </a:prstGeom>
          <a:noFill/>
          <a:ln/>
        </p:spPr>
        <p:txBody>
          <a:bodyPr wrap="squar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All 14 symptom columns are binary (Yes/No), ideal for label encoding.</a:t>
            </a:r>
            <a:endParaRPr lang="en-US" sz="1200" dirty="0"/>
          </a:p>
        </p:txBody>
      </p:sp>
      <p:sp>
        <p:nvSpPr>
          <p:cNvPr id="35" name="Shape 33"/>
          <p:cNvSpPr/>
          <p:nvPr/>
        </p:nvSpPr>
        <p:spPr>
          <a:xfrm>
            <a:off x="7513796" y="3710702"/>
            <a:ext cx="5982533" cy="932617"/>
          </a:xfrm>
          <a:prstGeom prst="roundRect">
            <a:avLst>
              <a:gd name="adj" fmla="val 7051"/>
            </a:avLst>
          </a:prstGeom>
          <a:solidFill>
            <a:srgbClr val="2F1D63"/>
          </a:solidFill>
          <a:ln w="7620">
            <a:solidFill>
              <a:srgbClr val="48367C"/>
            </a:solidFill>
            <a:prstDash val="solid"/>
          </a:ln>
        </p:spPr>
      </p:sp>
      <p:sp>
        <p:nvSpPr>
          <p:cNvPr id="36" name="Text 34"/>
          <p:cNvSpPr/>
          <p:nvPr/>
        </p:nvSpPr>
        <p:spPr>
          <a:xfrm>
            <a:off x="7677983" y="3874889"/>
            <a:ext cx="2674739" cy="256818"/>
          </a:xfrm>
          <a:prstGeom prst="rect">
            <a:avLst/>
          </a:prstGeom>
          <a:noFill/>
          <a:ln/>
        </p:spPr>
        <p:txBody>
          <a:bodyPr wrap="none" lIns="0" tIns="0" rIns="0" bIns="0" rtlCol="0" anchor="t"/>
          <a:lstStyle/>
          <a:p>
            <a:pPr marL="0" indent="0" algn="l">
              <a:lnSpc>
                <a:spcPts val="2000"/>
              </a:lnSpc>
              <a:buNone/>
            </a:pPr>
            <a:r>
              <a:rPr lang="en-US" sz="1600" b="1" dirty="0">
                <a:solidFill>
                  <a:srgbClr val="E0D6DE"/>
                </a:solidFill>
                <a:latin typeface="Petrona Bold" pitchFamily="34" charset="0"/>
                <a:ea typeface="Petrona Bold" pitchFamily="34" charset="-122"/>
                <a:cs typeface="Petrona Bold" pitchFamily="34" charset="-120"/>
              </a:rPr>
              <a:t>Class Label: 2 Unique Values</a:t>
            </a:r>
            <a:endParaRPr lang="en-US" sz="1600" dirty="0"/>
          </a:p>
        </p:txBody>
      </p:sp>
      <p:sp>
        <p:nvSpPr>
          <p:cNvPr id="37" name="Text 35"/>
          <p:cNvSpPr/>
          <p:nvPr/>
        </p:nvSpPr>
        <p:spPr>
          <a:xfrm>
            <a:off x="7677983" y="4255175"/>
            <a:ext cx="5654159" cy="223957"/>
          </a:xfrm>
          <a:prstGeom prst="rect">
            <a:avLst/>
          </a:prstGeom>
          <a:noFill/>
          <a:ln/>
        </p:spPr>
        <p:txBody>
          <a:bodyPr wrap="none" lIns="0" tIns="0" rIns="0" bIns="0" rtlCol="0" anchor="t"/>
          <a:lstStyle/>
          <a:p>
            <a:pPr marL="0" indent="0" algn="l">
              <a:lnSpc>
                <a:spcPts val="1750"/>
              </a:lnSpc>
              <a:buNone/>
            </a:pPr>
            <a:r>
              <a:rPr lang="en-US" sz="1200" dirty="0">
                <a:solidFill>
                  <a:srgbClr val="E0D6DE"/>
                </a:solidFill>
                <a:latin typeface="Inter" pitchFamily="34" charset="0"/>
                <a:ea typeface="Inter" pitchFamily="34" charset="-122"/>
                <a:cs typeface="Inter" pitchFamily="34" charset="-120"/>
              </a:rPr>
              <a:t>Positive (diabetic) and Negative (non-diabetic) — clean binary target.</a:t>
            </a:r>
            <a:endParaRPr lang="en-US" sz="1200" dirty="0"/>
          </a:p>
        </p:txBody>
      </p:sp>
      <p:sp>
        <p:nvSpPr>
          <p:cNvPr id="39" name="Text 36"/>
          <p:cNvSpPr/>
          <p:nvPr/>
        </p:nvSpPr>
        <p:spPr>
          <a:xfrm rot="16200000" flipV="1">
            <a:off x="8040741" y="6578506"/>
            <a:ext cx="2306879" cy="367991"/>
          </a:xfrm>
          <a:prstGeom prst="rect">
            <a:avLst/>
          </a:prstGeom>
          <a:noFill/>
          <a:ln/>
        </p:spPr>
        <p:txBody>
          <a:bodyPr wrap="none" lIns="0" tIns="0" rIns="0" bIns="0" rtlCol="0" anchor="t"/>
          <a:lstStyle/>
          <a:p>
            <a:pPr marL="0" indent="0" algn="l">
              <a:lnSpc>
                <a:spcPts val="1750"/>
              </a:lnSpc>
              <a:buNone/>
            </a:pPr>
            <a:endParaRPr lang="en-US" sz="1200" dirty="0"/>
          </a:p>
        </p:txBody>
      </p:sp>
      <p:pic>
        <p:nvPicPr>
          <p:cNvPr id="41" name="Picture 40">
            <a:extLst>
              <a:ext uri="{FF2B5EF4-FFF2-40B4-BE49-F238E27FC236}">
                <a16:creationId xmlns:a16="http://schemas.microsoft.com/office/drawing/2014/main" id="{00807102-91F0-7AB6-B05C-A01F0ABE93A3}"/>
              </a:ext>
            </a:extLst>
          </p:cNvPr>
          <p:cNvPicPr>
            <a:picLocks noChangeAspect="1"/>
          </p:cNvPicPr>
          <p:nvPr/>
        </p:nvPicPr>
        <p:blipFill>
          <a:blip r:embed="rId3"/>
          <a:stretch>
            <a:fillRect/>
          </a:stretch>
        </p:blipFill>
        <p:spPr>
          <a:xfrm>
            <a:off x="1406015" y="5511879"/>
            <a:ext cx="5553308" cy="2404062"/>
          </a:xfrm>
          <a:prstGeom prst="rect">
            <a:avLst/>
          </a:prstGeom>
        </p:spPr>
      </p:pic>
      <p:sp>
        <p:nvSpPr>
          <p:cNvPr id="38" name="Rectangle 37">
            <a:extLst>
              <a:ext uri="{FF2B5EF4-FFF2-40B4-BE49-F238E27FC236}">
                <a16:creationId xmlns:a16="http://schemas.microsoft.com/office/drawing/2014/main" id="{CE7E0C2E-FC89-A7F0-3B8A-4F3DB270B49A}"/>
              </a:ext>
            </a:extLst>
          </p:cNvPr>
          <p:cNvSpPr/>
          <p:nvPr/>
        </p:nvSpPr>
        <p:spPr>
          <a:xfrm>
            <a:off x="12846205" y="7727795"/>
            <a:ext cx="1784195" cy="5018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48715"/>
            <a:ext cx="9241869" cy="651272"/>
          </a:xfrm>
          <a:prstGeom prst="rect">
            <a:avLst/>
          </a:prstGeom>
          <a:noFill/>
          <a:ln/>
        </p:spPr>
        <p:txBody>
          <a:bodyPr wrap="none" lIns="0" tIns="0" rIns="0" bIns="0" rtlCol="0" anchor="t"/>
          <a:lstStyle/>
          <a:p>
            <a:pPr marL="0" indent="0" algn="l">
              <a:lnSpc>
                <a:spcPts val="5100"/>
              </a:lnSpc>
              <a:buNone/>
            </a:pPr>
            <a:r>
              <a:rPr lang="en-US" sz="4100" b="1" dirty="0">
                <a:solidFill>
                  <a:srgbClr val="FF8AAF"/>
                </a:solidFill>
                <a:latin typeface="Petrona Bold" pitchFamily="34" charset="0"/>
                <a:ea typeface="Petrona Bold" pitchFamily="34" charset="-122"/>
                <a:cs typeface="Petrona Bold" pitchFamily="34" charset="-120"/>
              </a:rPr>
              <a:t>Data Visualization Using Subplots </a:t>
            </a:r>
            <a:r>
              <a:rPr lang="en-US" sz="4100" b="1" dirty="0">
                <a:solidFill>
                  <a:srgbClr val="E0D6DE"/>
                </a:solidFill>
                <a:latin typeface="Petrona Bold" pitchFamily="34" charset="0"/>
                <a:ea typeface="Petrona Bold" pitchFamily="34" charset="-122"/>
                <a:cs typeface="Petrona Bold" pitchFamily="34" charset="-120"/>
              </a:rPr>
              <a:t>(Q4)</a:t>
            </a:r>
            <a:endParaRPr lang="en-US" sz="4100" dirty="0"/>
          </a:p>
        </p:txBody>
      </p:sp>
      <p:sp>
        <p:nvSpPr>
          <p:cNvPr id="3" name="Text 1"/>
          <p:cNvSpPr/>
          <p:nvPr/>
        </p:nvSpPr>
        <p:spPr>
          <a:xfrm>
            <a:off x="793790" y="219682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Four visualizations were created in a single subplot figure using Matplotlib, each revealing a distinct aspect of the data's structure and distribution.</a:t>
            </a:r>
            <a:endParaRPr lang="en-US" sz="1550" dirty="0"/>
          </a:p>
        </p:txBody>
      </p:sp>
      <p:sp>
        <p:nvSpPr>
          <p:cNvPr id="5" name="Text 2"/>
          <p:cNvSpPr/>
          <p:nvPr/>
        </p:nvSpPr>
        <p:spPr>
          <a:xfrm>
            <a:off x="793790" y="4627755"/>
            <a:ext cx="2978706" cy="103073"/>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Scatter Plot: Age vs. Class</a:t>
            </a:r>
            <a:endParaRPr lang="en-US" sz="2050" dirty="0"/>
          </a:p>
        </p:txBody>
      </p:sp>
      <p:sp>
        <p:nvSpPr>
          <p:cNvPr id="6" name="Text 3"/>
          <p:cNvSpPr/>
          <p:nvPr/>
        </p:nvSpPr>
        <p:spPr>
          <a:xfrm>
            <a:off x="793790" y="5175646"/>
            <a:ext cx="3074670" cy="1579483"/>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Visualizes how patient age distributes across </a:t>
            </a:r>
            <a:r>
              <a:rPr lang="en-US" sz="1550" b="1" dirty="0">
                <a:solidFill>
                  <a:srgbClr val="E0D6DE"/>
                </a:solidFill>
                <a:latin typeface="Inter" pitchFamily="34" charset="0"/>
                <a:ea typeface="Inter" pitchFamily="34" charset="-122"/>
                <a:cs typeface="Inter" pitchFamily="34" charset="-120"/>
              </a:rPr>
              <a:t>Positive</a:t>
            </a:r>
            <a:r>
              <a:rPr lang="en-US" sz="1550" dirty="0">
                <a:solidFill>
                  <a:srgbClr val="E0D6DE"/>
                </a:solidFill>
                <a:latin typeface="Inter" pitchFamily="34" charset="0"/>
                <a:ea typeface="Inter" pitchFamily="34" charset="-122"/>
                <a:cs typeface="Inter" pitchFamily="34" charset="-120"/>
              </a:rPr>
              <a:t> and </a:t>
            </a:r>
            <a:r>
              <a:rPr lang="en-US" sz="1550" b="1" dirty="0">
                <a:solidFill>
                  <a:srgbClr val="E0D6DE"/>
                </a:solidFill>
                <a:latin typeface="Inter" pitchFamily="34" charset="0"/>
                <a:ea typeface="Inter" pitchFamily="34" charset="-122"/>
                <a:cs typeface="Inter" pitchFamily="34" charset="-120"/>
              </a:rPr>
              <a:t>Negative</a:t>
            </a:r>
            <a:r>
              <a:rPr lang="en-US" sz="1550" dirty="0">
                <a:solidFill>
                  <a:srgbClr val="E0D6DE"/>
                </a:solidFill>
                <a:latin typeface="Inter" pitchFamily="34" charset="0"/>
                <a:ea typeface="Inter" pitchFamily="34" charset="-122"/>
                <a:cs typeface="Inter" pitchFamily="34" charset="-120"/>
              </a:rPr>
              <a:t> diabetes classes. Reveals that diabetic patients tend to cluster in middle to older age groups.</a:t>
            </a:r>
            <a:endParaRPr lang="en-US" sz="1550" dirty="0"/>
          </a:p>
        </p:txBody>
      </p:sp>
      <p:sp>
        <p:nvSpPr>
          <p:cNvPr id="8" name="Text 4"/>
          <p:cNvSpPr/>
          <p:nvPr/>
        </p:nvSpPr>
        <p:spPr>
          <a:xfrm>
            <a:off x="4116467" y="4627755"/>
            <a:ext cx="2658428" cy="103074"/>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Line Graph: Age Trend</a:t>
            </a:r>
            <a:endParaRPr lang="en-US" sz="2050" dirty="0"/>
          </a:p>
        </p:txBody>
      </p:sp>
      <p:sp>
        <p:nvSpPr>
          <p:cNvPr id="9" name="Text 5"/>
          <p:cNvSpPr/>
          <p:nvPr/>
        </p:nvSpPr>
        <p:spPr>
          <a:xfrm>
            <a:off x="4116467" y="5175646"/>
            <a:ext cx="3074670" cy="1261943"/>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Plots age values across the 520 records in sequence. Highlights the variability and spread of patient ages throughout the dataset without binning.</a:t>
            </a:r>
            <a:endParaRPr lang="en-US" sz="1550" dirty="0"/>
          </a:p>
        </p:txBody>
      </p:sp>
      <p:sp>
        <p:nvSpPr>
          <p:cNvPr id="11" name="Text 6"/>
          <p:cNvSpPr/>
          <p:nvPr/>
        </p:nvSpPr>
        <p:spPr>
          <a:xfrm>
            <a:off x="7439144" y="4612781"/>
            <a:ext cx="3074670" cy="443683"/>
          </a:xfrm>
          <a:prstGeom prst="rect">
            <a:avLst/>
          </a:prstGeom>
          <a:noFill/>
          <a:ln/>
        </p:spPr>
        <p:txBody>
          <a:bodyPr wrap="squar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Histogram: Age Distribution</a:t>
            </a:r>
            <a:endParaRPr lang="en-US" sz="2050" dirty="0"/>
          </a:p>
        </p:txBody>
      </p:sp>
      <p:sp>
        <p:nvSpPr>
          <p:cNvPr id="12" name="Text 7"/>
          <p:cNvSpPr/>
          <p:nvPr/>
        </p:nvSpPr>
        <p:spPr>
          <a:xfrm>
            <a:off x="7439144" y="5175646"/>
            <a:ext cx="3074670" cy="190511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Shows the frequency distribution of age values. The near-symmetric distribution around the mean (48.04) indicates a reasonably balanced age range in this dataset.</a:t>
            </a:r>
            <a:endParaRPr lang="en-US" sz="1550" dirty="0"/>
          </a:p>
        </p:txBody>
      </p:sp>
      <p:sp>
        <p:nvSpPr>
          <p:cNvPr id="14" name="Text 8"/>
          <p:cNvSpPr/>
          <p:nvPr/>
        </p:nvSpPr>
        <p:spPr>
          <a:xfrm>
            <a:off x="10761821" y="4612781"/>
            <a:ext cx="3074789" cy="635079"/>
          </a:xfrm>
          <a:prstGeom prst="rect">
            <a:avLst/>
          </a:prstGeom>
          <a:noFill/>
          <a:ln/>
        </p:spPr>
        <p:txBody>
          <a:bodyPr wrap="squar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Bar Chart: Missing Values After Cleaning</a:t>
            </a:r>
            <a:endParaRPr lang="en-US" sz="2050" dirty="0"/>
          </a:p>
        </p:txBody>
      </p:sp>
      <p:sp>
        <p:nvSpPr>
          <p:cNvPr id="15" name="Text 9"/>
          <p:cNvSpPr/>
          <p:nvPr/>
        </p:nvSpPr>
        <p:spPr>
          <a:xfrm>
            <a:off x="10761821" y="5175647"/>
            <a:ext cx="3074789" cy="127015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Inter" pitchFamily="34" charset="0"/>
                <a:ea typeface="Inter" pitchFamily="34" charset="-122"/>
                <a:cs typeface="Inter" pitchFamily="34" charset="-120"/>
              </a:rPr>
              <a:t>Confirms that all 17 columns have </a:t>
            </a:r>
            <a:r>
              <a:rPr lang="en-US" sz="1550" b="1" dirty="0">
                <a:solidFill>
                  <a:srgbClr val="E0D6DE"/>
                </a:solidFill>
                <a:latin typeface="Inter" pitchFamily="34" charset="0"/>
                <a:ea typeface="Inter" pitchFamily="34" charset="-122"/>
                <a:cs typeface="Inter" pitchFamily="34" charset="-120"/>
              </a:rPr>
              <a:t>0 missing values</a:t>
            </a:r>
            <a:r>
              <a:rPr lang="en-US" sz="1550" dirty="0">
                <a:solidFill>
                  <a:srgbClr val="E0D6DE"/>
                </a:solidFill>
                <a:latin typeface="Inter" pitchFamily="34" charset="0"/>
                <a:ea typeface="Inter" pitchFamily="34" charset="-122"/>
                <a:cs typeface="Inter" pitchFamily="34" charset="-120"/>
              </a:rPr>
              <a:t> after imputation — a clean, ready-to-model dataset.</a:t>
            </a:r>
            <a:endParaRPr lang="en-US" sz="1550" dirty="0"/>
          </a:p>
        </p:txBody>
      </p:sp>
      <p:pic>
        <p:nvPicPr>
          <p:cNvPr id="17" name="Picture 16">
            <a:extLst>
              <a:ext uri="{FF2B5EF4-FFF2-40B4-BE49-F238E27FC236}">
                <a16:creationId xmlns:a16="http://schemas.microsoft.com/office/drawing/2014/main" id="{BBA38C49-ED62-61E6-BB8B-17CC23C6FB64}"/>
              </a:ext>
            </a:extLst>
          </p:cNvPr>
          <p:cNvPicPr>
            <a:picLocks noChangeAspect="1"/>
          </p:cNvPicPr>
          <p:nvPr/>
        </p:nvPicPr>
        <p:blipFill>
          <a:blip r:embed="rId3"/>
          <a:stretch>
            <a:fillRect/>
          </a:stretch>
        </p:blipFill>
        <p:spPr>
          <a:xfrm>
            <a:off x="4085510" y="2831901"/>
            <a:ext cx="2658428" cy="1780881"/>
          </a:xfrm>
          <a:prstGeom prst="rect">
            <a:avLst/>
          </a:prstGeom>
        </p:spPr>
      </p:pic>
      <p:pic>
        <p:nvPicPr>
          <p:cNvPr id="19" name="Picture 18">
            <a:extLst>
              <a:ext uri="{FF2B5EF4-FFF2-40B4-BE49-F238E27FC236}">
                <a16:creationId xmlns:a16="http://schemas.microsoft.com/office/drawing/2014/main" id="{71ABF2A3-5AC3-E559-FD23-6E9A6E1E7000}"/>
              </a:ext>
            </a:extLst>
          </p:cNvPr>
          <p:cNvPicPr>
            <a:picLocks noChangeAspect="1"/>
          </p:cNvPicPr>
          <p:nvPr/>
        </p:nvPicPr>
        <p:blipFill>
          <a:blip r:embed="rId4"/>
          <a:stretch>
            <a:fillRect/>
          </a:stretch>
        </p:blipFill>
        <p:spPr>
          <a:xfrm>
            <a:off x="7315200" y="2831901"/>
            <a:ext cx="2775640" cy="1795854"/>
          </a:xfrm>
          <a:prstGeom prst="rect">
            <a:avLst/>
          </a:prstGeom>
        </p:spPr>
      </p:pic>
      <p:pic>
        <p:nvPicPr>
          <p:cNvPr id="21" name="Picture 20">
            <a:extLst>
              <a:ext uri="{FF2B5EF4-FFF2-40B4-BE49-F238E27FC236}">
                <a16:creationId xmlns:a16="http://schemas.microsoft.com/office/drawing/2014/main" id="{251A1ED8-44FD-E98F-A761-762FB37B0686}"/>
              </a:ext>
            </a:extLst>
          </p:cNvPr>
          <p:cNvPicPr>
            <a:picLocks noChangeAspect="1"/>
          </p:cNvPicPr>
          <p:nvPr/>
        </p:nvPicPr>
        <p:blipFill>
          <a:blip r:embed="rId5"/>
          <a:stretch>
            <a:fillRect/>
          </a:stretch>
        </p:blipFill>
        <p:spPr>
          <a:xfrm>
            <a:off x="697441" y="2861667"/>
            <a:ext cx="2775640" cy="1766088"/>
          </a:xfrm>
          <a:prstGeom prst="rect">
            <a:avLst/>
          </a:prstGeom>
        </p:spPr>
      </p:pic>
      <p:pic>
        <p:nvPicPr>
          <p:cNvPr id="22" name="Picture 21">
            <a:extLst>
              <a:ext uri="{FF2B5EF4-FFF2-40B4-BE49-F238E27FC236}">
                <a16:creationId xmlns:a16="http://schemas.microsoft.com/office/drawing/2014/main" id="{2114D8B2-C798-7196-A310-3BF600912B25}"/>
              </a:ext>
            </a:extLst>
          </p:cNvPr>
          <p:cNvPicPr>
            <a:picLocks noChangeAspect="1"/>
          </p:cNvPicPr>
          <p:nvPr/>
        </p:nvPicPr>
        <p:blipFill>
          <a:blip r:embed="rId6"/>
          <a:stretch>
            <a:fillRect/>
          </a:stretch>
        </p:blipFill>
        <p:spPr>
          <a:xfrm>
            <a:off x="10755089" y="2831901"/>
            <a:ext cx="2592921" cy="1795854"/>
          </a:xfrm>
          <a:prstGeom prst="rect">
            <a:avLst/>
          </a:prstGeom>
        </p:spPr>
      </p:pic>
      <p:sp>
        <p:nvSpPr>
          <p:cNvPr id="4" name="Rectangle 3">
            <a:extLst>
              <a:ext uri="{FF2B5EF4-FFF2-40B4-BE49-F238E27FC236}">
                <a16:creationId xmlns:a16="http://schemas.microsoft.com/office/drawing/2014/main" id="{9408A271-A0E8-0BF8-D9B5-9AF85EF5E947}"/>
              </a:ext>
            </a:extLst>
          </p:cNvPr>
          <p:cNvSpPr/>
          <p:nvPr/>
        </p:nvSpPr>
        <p:spPr>
          <a:xfrm>
            <a:off x="12779298" y="7738946"/>
            <a:ext cx="1851102" cy="4906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911310" y="892016"/>
            <a:ext cx="5622369" cy="449699"/>
          </a:xfrm>
          <a:prstGeom prst="rect">
            <a:avLst/>
          </a:prstGeom>
          <a:noFill/>
          <a:ln/>
        </p:spPr>
        <p:txBody>
          <a:bodyPr wrap="none" lIns="0" tIns="0" rIns="0" bIns="0" rtlCol="0" anchor="t"/>
          <a:lstStyle/>
          <a:p>
            <a:pPr marL="0" indent="0" algn="l">
              <a:lnSpc>
                <a:spcPts val="3500"/>
              </a:lnSpc>
              <a:buNone/>
            </a:pPr>
            <a:r>
              <a:rPr lang="en-US" sz="2800" b="1" dirty="0">
                <a:solidFill>
                  <a:srgbClr val="FF8AAF"/>
                </a:solidFill>
                <a:latin typeface="Petrona Bold" pitchFamily="34" charset="0"/>
                <a:ea typeface="Petrona Bold" pitchFamily="34" charset="-122"/>
                <a:cs typeface="Petrona Bold" pitchFamily="34" charset="-120"/>
              </a:rPr>
              <a:t>KNN Model and Performance </a:t>
            </a:r>
            <a:r>
              <a:rPr lang="en-US" sz="2800" b="1" dirty="0">
                <a:solidFill>
                  <a:srgbClr val="E0D6DE"/>
                </a:solidFill>
                <a:latin typeface="Petrona Bold" pitchFamily="34" charset="0"/>
                <a:ea typeface="Petrona Bold" pitchFamily="34" charset="-122"/>
                <a:cs typeface="Petrona Bold" pitchFamily="34" charset="-120"/>
              </a:rPr>
              <a:t>(Q5)</a:t>
            </a:r>
            <a:endParaRPr lang="en-US" sz="2800" dirty="0"/>
          </a:p>
        </p:txBody>
      </p:sp>
      <p:sp>
        <p:nvSpPr>
          <p:cNvPr id="3" name="Text 1"/>
          <p:cNvSpPr/>
          <p:nvPr/>
        </p:nvSpPr>
        <p:spPr>
          <a:xfrm>
            <a:off x="1911310" y="1530906"/>
            <a:ext cx="10807660" cy="370523"/>
          </a:xfrm>
          <a:prstGeom prst="rect">
            <a:avLst/>
          </a:prstGeom>
          <a:noFill/>
          <a:ln/>
        </p:spPr>
        <p:txBody>
          <a:bodyPr wrap="square" lIns="0" tIns="0" rIns="0" bIns="0" rtlCol="0" anchor="t"/>
          <a:lstStyle/>
          <a:p>
            <a:pPr marL="0" indent="0" algn="l">
              <a:lnSpc>
                <a:spcPts val="1450"/>
              </a:lnSpc>
              <a:buNone/>
            </a:pPr>
            <a:r>
              <a:rPr lang="en-US" sz="1050" dirty="0">
                <a:solidFill>
                  <a:srgbClr val="E0D6DE"/>
                </a:solidFill>
                <a:latin typeface="Inter" pitchFamily="34" charset="0"/>
                <a:ea typeface="Inter" pitchFamily="34" charset="-122"/>
                <a:cs typeface="Inter" pitchFamily="34" charset="-120"/>
              </a:rPr>
              <a:t>Before training, categorical features were encoded (Yes/No → 1/0; Male/Female → 1/0; Positive/Negative → 1/0) and all features were scaled using </a:t>
            </a:r>
            <a:r>
              <a:rPr lang="en-US" sz="1050" b="1" dirty="0">
                <a:solidFill>
                  <a:srgbClr val="E0D6DE"/>
                </a:solidFill>
                <a:latin typeface="Inter" pitchFamily="34" charset="0"/>
                <a:ea typeface="Inter" pitchFamily="34" charset="-122"/>
                <a:cs typeface="Inter" pitchFamily="34" charset="-120"/>
              </a:rPr>
              <a:t>StandardScaler</a:t>
            </a:r>
            <a:r>
              <a:rPr lang="en-US" sz="1050" dirty="0">
                <a:solidFill>
                  <a:srgbClr val="E0D6DE"/>
                </a:solidFill>
                <a:latin typeface="Inter" pitchFamily="34" charset="0"/>
                <a:ea typeface="Inter" pitchFamily="34" charset="-122"/>
                <a:cs typeface="Inter" pitchFamily="34" charset="-120"/>
              </a:rPr>
              <a:t>. The dataset was split 80% training / 20% testing, and a </a:t>
            </a:r>
            <a:r>
              <a:rPr lang="en-US" sz="1050" b="1" dirty="0">
                <a:solidFill>
                  <a:srgbClr val="E0D6DE"/>
                </a:solidFill>
                <a:latin typeface="Inter" pitchFamily="34" charset="0"/>
                <a:ea typeface="Inter" pitchFamily="34" charset="-122"/>
                <a:cs typeface="Inter" pitchFamily="34" charset="-120"/>
              </a:rPr>
              <a:t>KNeighborsClassifier with n_neighbors=5</a:t>
            </a:r>
            <a:r>
              <a:rPr lang="en-US" sz="1050" dirty="0">
                <a:solidFill>
                  <a:srgbClr val="E0D6DE"/>
                </a:solidFill>
                <a:latin typeface="Inter" pitchFamily="34" charset="0"/>
                <a:ea typeface="Inter" pitchFamily="34" charset="-122"/>
                <a:cs typeface="Inter" pitchFamily="34" charset="-120"/>
              </a:rPr>
              <a:t> was trained and evaluated.</a:t>
            </a:r>
            <a:endParaRPr lang="en-US" sz="1050" dirty="0"/>
          </a:p>
        </p:txBody>
      </p:sp>
      <p:sp>
        <p:nvSpPr>
          <p:cNvPr id="4" name="Shape 2"/>
          <p:cNvSpPr/>
          <p:nvPr/>
        </p:nvSpPr>
        <p:spPr>
          <a:xfrm>
            <a:off x="1911310" y="2114312"/>
            <a:ext cx="2571036" cy="1364933"/>
          </a:xfrm>
          <a:prstGeom prst="roundRect">
            <a:avLst>
              <a:gd name="adj" fmla="val 4217"/>
            </a:avLst>
          </a:prstGeom>
          <a:solidFill>
            <a:srgbClr val="0C0524">
              <a:alpha val="95000"/>
            </a:srgbClr>
          </a:solidFill>
          <a:ln w="15240">
            <a:solidFill>
              <a:srgbClr val="48367C"/>
            </a:solidFill>
            <a:prstDash val="solid"/>
          </a:ln>
        </p:spPr>
      </p:sp>
      <p:sp>
        <p:nvSpPr>
          <p:cNvPr id="5" name="Text 3"/>
          <p:cNvSpPr/>
          <p:nvPr/>
        </p:nvSpPr>
        <p:spPr>
          <a:xfrm>
            <a:off x="2063591" y="2266593"/>
            <a:ext cx="1798796" cy="224790"/>
          </a:xfrm>
          <a:prstGeom prst="rect">
            <a:avLst/>
          </a:prstGeom>
          <a:noFill/>
          <a:ln/>
        </p:spPr>
        <p:txBody>
          <a:bodyPr wrap="none" lIns="0" tIns="0" rIns="0" bIns="0" rtlCol="0" anchor="t"/>
          <a:lstStyle/>
          <a:p>
            <a:pPr marL="0" indent="0" algn="l">
              <a:lnSpc>
                <a:spcPts val="1750"/>
              </a:lnSpc>
              <a:buNone/>
            </a:pPr>
            <a:r>
              <a:rPr lang="en-US" sz="1400" b="1" dirty="0">
                <a:solidFill>
                  <a:srgbClr val="E0D6DE"/>
                </a:solidFill>
                <a:latin typeface="Petrona Bold" pitchFamily="34" charset="0"/>
                <a:ea typeface="Petrona Bold" pitchFamily="34" charset="-122"/>
                <a:cs typeface="Petrona Bold" pitchFamily="34" charset="-120"/>
              </a:rPr>
              <a:t>Encoding</a:t>
            </a:r>
            <a:endParaRPr lang="en-US" sz="1400" dirty="0"/>
          </a:p>
        </p:txBody>
      </p:sp>
      <p:sp>
        <p:nvSpPr>
          <p:cNvPr id="6" name="Text 4"/>
          <p:cNvSpPr/>
          <p:nvPr/>
        </p:nvSpPr>
        <p:spPr>
          <a:xfrm>
            <a:off x="2063591" y="2585918"/>
            <a:ext cx="2266474" cy="741045"/>
          </a:xfrm>
          <a:prstGeom prst="rect">
            <a:avLst/>
          </a:prstGeom>
          <a:noFill/>
          <a:ln/>
        </p:spPr>
        <p:txBody>
          <a:bodyPr wrap="square" lIns="0" tIns="0" rIns="0" bIns="0" rtlCol="0" anchor="t"/>
          <a:lstStyle/>
          <a:p>
            <a:pPr marL="0" indent="0" algn="l">
              <a:lnSpc>
                <a:spcPts val="1450"/>
              </a:lnSpc>
              <a:buNone/>
            </a:pPr>
            <a:r>
              <a:rPr lang="en-US" sz="1050" dirty="0">
                <a:solidFill>
                  <a:srgbClr val="E0D6DE"/>
                </a:solidFill>
                <a:latin typeface="Inter" pitchFamily="34" charset="0"/>
                <a:ea typeface="Inter" pitchFamily="34" charset="-122"/>
                <a:cs typeface="Inter" pitchFamily="34" charset="-120"/>
              </a:rPr>
              <a:t>Binary categorical columns label-encoded. Yes→1, No→0. Male→1, Female→0. Positive→1, Negative→0.</a:t>
            </a:r>
            <a:endParaRPr lang="en-US" sz="1050" dirty="0"/>
          </a:p>
        </p:txBody>
      </p:sp>
      <p:sp>
        <p:nvSpPr>
          <p:cNvPr id="7" name="Shape 5"/>
          <p:cNvSpPr/>
          <p:nvPr/>
        </p:nvSpPr>
        <p:spPr>
          <a:xfrm>
            <a:off x="4576882" y="2114312"/>
            <a:ext cx="2571036" cy="1364933"/>
          </a:xfrm>
          <a:prstGeom prst="roundRect">
            <a:avLst>
              <a:gd name="adj" fmla="val 4217"/>
            </a:avLst>
          </a:prstGeom>
          <a:solidFill>
            <a:srgbClr val="0C0524">
              <a:alpha val="95000"/>
            </a:srgbClr>
          </a:solidFill>
          <a:ln w="15240">
            <a:solidFill>
              <a:srgbClr val="48367C"/>
            </a:solidFill>
            <a:prstDash val="solid"/>
          </a:ln>
        </p:spPr>
      </p:sp>
      <p:sp>
        <p:nvSpPr>
          <p:cNvPr id="8" name="Text 6"/>
          <p:cNvSpPr/>
          <p:nvPr/>
        </p:nvSpPr>
        <p:spPr>
          <a:xfrm>
            <a:off x="4729163" y="2266593"/>
            <a:ext cx="1798796" cy="224790"/>
          </a:xfrm>
          <a:prstGeom prst="rect">
            <a:avLst/>
          </a:prstGeom>
          <a:noFill/>
          <a:ln/>
        </p:spPr>
        <p:txBody>
          <a:bodyPr wrap="none" lIns="0" tIns="0" rIns="0" bIns="0" rtlCol="0" anchor="t"/>
          <a:lstStyle/>
          <a:p>
            <a:pPr marL="0" indent="0" algn="l">
              <a:lnSpc>
                <a:spcPts val="1750"/>
              </a:lnSpc>
              <a:buNone/>
            </a:pPr>
            <a:r>
              <a:rPr lang="en-US" sz="1400" b="1" dirty="0">
                <a:solidFill>
                  <a:srgbClr val="E0D6DE"/>
                </a:solidFill>
                <a:latin typeface="Petrona Bold" pitchFamily="34" charset="0"/>
                <a:ea typeface="Petrona Bold" pitchFamily="34" charset="-122"/>
                <a:cs typeface="Petrona Bold" pitchFamily="34" charset="-120"/>
              </a:rPr>
              <a:t>Scaling</a:t>
            </a:r>
            <a:endParaRPr lang="en-US" sz="1400" dirty="0"/>
          </a:p>
        </p:txBody>
      </p:sp>
      <p:sp>
        <p:nvSpPr>
          <p:cNvPr id="9" name="Text 7"/>
          <p:cNvSpPr/>
          <p:nvPr/>
        </p:nvSpPr>
        <p:spPr>
          <a:xfrm>
            <a:off x="4729163" y="2585918"/>
            <a:ext cx="2266474" cy="741045"/>
          </a:xfrm>
          <a:prstGeom prst="rect">
            <a:avLst/>
          </a:prstGeom>
          <a:noFill/>
          <a:ln/>
        </p:spPr>
        <p:txBody>
          <a:bodyPr wrap="square" lIns="0" tIns="0" rIns="0" bIns="0" rtlCol="0" anchor="t"/>
          <a:lstStyle/>
          <a:p>
            <a:pPr marL="0" indent="0" algn="l">
              <a:lnSpc>
                <a:spcPts val="1450"/>
              </a:lnSpc>
              <a:buNone/>
            </a:pPr>
            <a:r>
              <a:rPr lang="en-US" sz="1050" dirty="0">
                <a:solidFill>
                  <a:srgbClr val="E0D6DE"/>
                </a:solidFill>
                <a:latin typeface="Inter" pitchFamily="34" charset="0"/>
                <a:ea typeface="Inter" pitchFamily="34" charset="-122"/>
                <a:cs typeface="Inter" pitchFamily="34" charset="-120"/>
              </a:rPr>
              <a:t>StandardScaler applied to normalize all feature values before KNN — essential for distance-based algorithms.</a:t>
            </a:r>
            <a:endParaRPr lang="en-US" sz="1050" dirty="0"/>
          </a:p>
        </p:txBody>
      </p:sp>
      <p:sp>
        <p:nvSpPr>
          <p:cNvPr id="10" name="Shape 8"/>
          <p:cNvSpPr/>
          <p:nvPr/>
        </p:nvSpPr>
        <p:spPr>
          <a:xfrm>
            <a:off x="1911310" y="3573780"/>
            <a:ext cx="5236607" cy="994410"/>
          </a:xfrm>
          <a:prstGeom prst="roundRect">
            <a:avLst>
              <a:gd name="adj" fmla="val 5789"/>
            </a:avLst>
          </a:prstGeom>
          <a:solidFill>
            <a:srgbClr val="0C0524">
              <a:alpha val="95000"/>
            </a:srgbClr>
          </a:solidFill>
          <a:ln w="15240">
            <a:solidFill>
              <a:srgbClr val="48367C"/>
            </a:solidFill>
            <a:prstDash val="solid"/>
          </a:ln>
        </p:spPr>
      </p:sp>
      <p:sp>
        <p:nvSpPr>
          <p:cNvPr id="11" name="Text 9"/>
          <p:cNvSpPr/>
          <p:nvPr/>
        </p:nvSpPr>
        <p:spPr>
          <a:xfrm>
            <a:off x="2063591" y="3726061"/>
            <a:ext cx="1798796" cy="224790"/>
          </a:xfrm>
          <a:prstGeom prst="rect">
            <a:avLst/>
          </a:prstGeom>
          <a:noFill/>
          <a:ln/>
        </p:spPr>
        <p:txBody>
          <a:bodyPr wrap="none" lIns="0" tIns="0" rIns="0" bIns="0" rtlCol="0" anchor="t"/>
          <a:lstStyle/>
          <a:p>
            <a:pPr marL="0" indent="0" algn="l">
              <a:lnSpc>
                <a:spcPts val="1750"/>
              </a:lnSpc>
              <a:buNone/>
            </a:pPr>
            <a:r>
              <a:rPr lang="en-US" sz="1400" b="1" dirty="0">
                <a:solidFill>
                  <a:srgbClr val="E0D6DE"/>
                </a:solidFill>
                <a:latin typeface="Petrona Bold" pitchFamily="34" charset="0"/>
                <a:ea typeface="Petrona Bold" pitchFamily="34" charset="-122"/>
                <a:cs typeface="Petrona Bold" pitchFamily="34" charset="-120"/>
              </a:rPr>
              <a:t>Split</a:t>
            </a:r>
            <a:endParaRPr lang="en-US" sz="1400" dirty="0"/>
          </a:p>
        </p:txBody>
      </p:sp>
      <p:sp>
        <p:nvSpPr>
          <p:cNvPr id="12" name="Text 10"/>
          <p:cNvSpPr/>
          <p:nvPr/>
        </p:nvSpPr>
        <p:spPr>
          <a:xfrm>
            <a:off x="2063591" y="4045387"/>
            <a:ext cx="4932045" cy="370523"/>
          </a:xfrm>
          <a:prstGeom prst="rect">
            <a:avLst/>
          </a:prstGeom>
          <a:noFill/>
          <a:ln/>
        </p:spPr>
        <p:txBody>
          <a:bodyPr wrap="square" lIns="0" tIns="0" rIns="0" bIns="0" rtlCol="0" anchor="t"/>
          <a:lstStyle/>
          <a:p>
            <a:pPr marL="0" indent="0" algn="l">
              <a:lnSpc>
                <a:spcPts val="1450"/>
              </a:lnSpc>
              <a:buNone/>
            </a:pPr>
            <a:r>
              <a:rPr lang="en-US" sz="1050" dirty="0">
                <a:solidFill>
                  <a:srgbClr val="E0D6DE"/>
                </a:solidFill>
                <a:latin typeface="Inter" pitchFamily="34" charset="0"/>
                <a:ea typeface="Inter" pitchFamily="34" charset="-122"/>
                <a:cs typeface="Inter" pitchFamily="34" charset="-120"/>
              </a:rPr>
              <a:t>80% training set (416 records) / 20% test set (104 records). Random state fixed for reproducibility.</a:t>
            </a:r>
            <a:endParaRPr lang="en-US" sz="1050" dirty="0"/>
          </a:p>
        </p:txBody>
      </p:sp>
      <p:sp>
        <p:nvSpPr>
          <p:cNvPr id="14" name="Text 11"/>
          <p:cNvSpPr/>
          <p:nvPr/>
        </p:nvSpPr>
        <p:spPr>
          <a:xfrm>
            <a:off x="1911310" y="7738946"/>
            <a:ext cx="5236607" cy="234176"/>
          </a:xfrm>
          <a:prstGeom prst="rect">
            <a:avLst/>
          </a:prstGeom>
          <a:noFill/>
          <a:ln/>
        </p:spPr>
        <p:txBody>
          <a:bodyPr wrap="none" lIns="0" tIns="0" rIns="0" bIns="0" rtlCol="0" anchor="t"/>
          <a:lstStyle/>
          <a:p>
            <a:pPr marL="0" indent="0" algn="l">
              <a:lnSpc>
                <a:spcPts val="1450"/>
              </a:lnSpc>
              <a:buNone/>
            </a:pPr>
            <a:r>
              <a:rPr lang="en-US" sz="1050" i="1" dirty="0">
                <a:solidFill>
                  <a:srgbClr val="E0D6DE"/>
                </a:solidFill>
                <a:latin typeface="Inter" pitchFamily="34" charset="0"/>
                <a:ea typeface="Inter" pitchFamily="34" charset="-122"/>
                <a:cs typeface="Inter" pitchFamily="34" charset="-120"/>
              </a:rPr>
              <a:t>Code: KNeighborsClassifier training and prediction in scikit-learn</a:t>
            </a:r>
            <a:endParaRPr lang="en-US" sz="1050" dirty="0"/>
          </a:p>
        </p:txBody>
      </p:sp>
      <p:sp>
        <p:nvSpPr>
          <p:cNvPr id="15" name="Shape 12"/>
          <p:cNvSpPr/>
          <p:nvPr/>
        </p:nvSpPr>
        <p:spPr>
          <a:xfrm>
            <a:off x="7391162" y="2007870"/>
            <a:ext cx="5434013" cy="5329595"/>
          </a:xfrm>
          <a:prstGeom prst="roundRect">
            <a:avLst>
              <a:gd name="adj" fmla="val 1852"/>
            </a:avLst>
          </a:prstGeom>
          <a:solidFill>
            <a:srgbClr val="876CD4">
              <a:alpha val="95000"/>
            </a:srgbClr>
          </a:solidFill>
          <a:ln/>
        </p:spPr>
      </p:sp>
      <p:sp>
        <p:nvSpPr>
          <p:cNvPr id="16" name="Text 13"/>
          <p:cNvSpPr/>
          <p:nvPr/>
        </p:nvSpPr>
        <p:spPr>
          <a:xfrm>
            <a:off x="7528203" y="2102406"/>
            <a:ext cx="2204204" cy="224790"/>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Petrona Bold" pitchFamily="34" charset="0"/>
                <a:ea typeface="Petrona Bold" pitchFamily="34" charset="-122"/>
                <a:cs typeface="Petrona Bold" pitchFamily="34" charset="-120"/>
              </a:rPr>
              <a:t>Final Performance Metrics</a:t>
            </a:r>
            <a:endParaRPr lang="en-US" sz="1400" dirty="0"/>
          </a:p>
        </p:txBody>
      </p:sp>
      <p:sp>
        <p:nvSpPr>
          <p:cNvPr id="17" name="Text 14"/>
          <p:cNvSpPr/>
          <p:nvPr/>
        </p:nvSpPr>
        <p:spPr>
          <a:xfrm>
            <a:off x="7528203" y="2502098"/>
            <a:ext cx="5159931" cy="452199"/>
          </a:xfrm>
          <a:prstGeom prst="rect">
            <a:avLst/>
          </a:prstGeom>
          <a:noFill/>
          <a:ln/>
        </p:spPr>
        <p:txBody>
          <a:bodyPr wrap="none" lIns="0" tIns="0" rIns="0" bIns="0" rtlCol="0" anchor="t"/>
          <a:lstStyle/>
          <a:p>
            <a:pPr marL="0" indent="0" algn="ctr">
              <a:lnSpc>
                <a:spcPts val="3550"/>
              </a:lnSpc>
              <a:buNone/>
            </a:pPr>
            <a:r>
              <a:rPr lang="en-US" sz="3550" b="1" dirty="0">
                <a:solidFill>
                  <a:srgbClr val="000000"/>
                </a:solidFill>
                <a:latin typeface="Petrona Bold" pitchFamily="34" charset="0"/>
                <a:ea typeface="Petrona Bold" pitchFamily="34" charset="-122"/>
                <a:cs typeface="Petrona Bold" pitchFamily="34" charset="-120"/>
              </a:rPr>
              <a:t>93.3%</a:t>
            </a:r>
            <a:endParaRPr lang="en-US" sz="3550" dirty="0"/>
          </a:p>
        </p:txBody>
      </p:sp>
      <p:sp>
        <p:nvSpPr>
          <p:cNvPr id="18" name="Text 15"/>
          <p:cNvSpPr/>
          <p:nvPr/>
        </p:nvSpPr>
        <p:spPr>
          <a:xfrm>
            <a:off x="9208770" y="3093720"/>
            <a:ext cx="1798796" cy="224790"/>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Petrona Bold" pitchFamily="34" charset="0"/>
                <a:ea typeface="Petrona Bold" pitchFamily="34" charset="-122"/>
                <a:cs typeface="Petrona Bold" pitchFamily="34" charset="-120"/>
              </a:rPr>
              <a:t>Accuracy</a:t>
            </a:r>
            <a:endParaRPr lang="en-US" sz="1400" dirty="0"/>
          </a:p>
        </p:txBody>
      </p:sp>
      <p:sp>
        <p:nvSpPr>
          <p:cNvPr id="19" name="Text 16"/>
          <p:cNvSpPr/>
          <p:nvPr/>
        </p:nvSpPr>
        <p:spPr>
          <a:xfrm>
            <a:off x="7528203" y="3576161"/>
            <a:ext cx="5159931" cy="452199"/>
          </a:xfrm>
          <a:prstGeom prst="rect">
            <a:avLst/>
          </a:prstGeom>
          <a:noFill/>
          <a:ln/>
        </p:spPr>
        <p:txBody>
          <a:bodyPr wrap="none" lIns="0" tIns="0" rIns="0" bIns="0" rtlCol="0" anchor="t"/>
          <a:lstStyle/>
          <a:p>
            <a:pPr marL="0" indent="0" algn="ctr">
              <a:lnSpc>
                <a:spcPts val="3550"/>
              </a:lnSpc>
              <a:buNone/>
            </a:pPr>
            <a:r>
              <a:rPr lang="en-US" sz="3550" b="1" dirty="0">
                <a:solidFill>
                  <a:srgbClr val="000000"/>
                </a:solidFill>
                <a:latin typeface="Petrona Bold" pitchFamily="34" charset="0"/>
                <a:ea typeface="Petrona Bold" pitchFamily="34" charset="-122"/>
                <a:cs typeface="Petrona Bold" pitchFamily="34" charset="-120"/>
              </a:rPr>
              <a:t>98.3%</a:t>
            </a:r>
            <a:endParaRPr lang="en-US" sz="3550" dirty="0"/>
          </a:p>
        </p:txBody>
      </p:sp>
      <p:sp>
        <p:nvSpPr>
          <p:cNvPr id="20" name="Text 17"/>
          <p:cNvSpPr/>
          <p:nvPr/>
        </p:nvSpPr>
        <p:spPr>
          <a:xfrm>
            <a:off x="9208770" y="4167783"/>
            <a:ext cx="1798796" cy="224790"/>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Petrona Bold" pitchFamily="34" charset="0"/>
                <a:ea typeface="Petrona Bold" pitchFamily="34" charset="-122"/>
                <a:cs typeface="Petrona Bold" pitchFamily="34" charset="-120"/>
              </a:rPr>
              <a:t>Precision</a:t>
            </a:r>
            <a:endParaRPr lang="en-US" sz="1400" dirty="0"/>
          </a:p>
        </p:txBody>
      </p:sp>
      <p:sp>
        <p:nvSpPr>
          <p:cNvPr id="21" name="Text 18"/>
          <p:cNvSpPr/>
          <p:nvPr/>
        </p:nvSpPr>
        <p:spPr>
          <a:xfrm>
            <a:off x="7528203" y="4650224"/>
            <a:ext cx="5159931" cy="452199"/>
          </a:xfrm>
          <a:prstGeom prst="rect">
            <a:avLst/>
          </a:prstGeom>
          <a:noFill/>
          <a:ln/>
        </p:spPr>
        <p:txBody>
          <a:bodyPr wrap="none" lIns="0" tIns="0" rIns="0" bIns="0" rtlCol="0" anchor="t"/>
          <a:lstStyle/>
          <a:p>
            <a:pPr marL="0" indent="0" algn="ctr">
              <a:lnSpc>
                <a:spcPts val="3550"/>
              </a:lnSpc>
              <a:buNone/>
            </a:pPr>
            <a:r>
              <a:rPr lang="en-US" sz="3550" b="1" dirty="0">
                <a:solidFill>
                  <a:srgbClr val="000000"/>
                </a:solidFill>
                <a:latin typeface="Petrona Bold" pitchFamily="34" charset="0"/>
                <a:ea typeface="Petrona Bold" pitchFamily="34" charset="-122"/>
                <a:cs typeface="Petrona Bold" pitchFamily="34" charset="-120"/>
              </a:rPr>
              <a:t>90.6%</a:t>
            </a:r>
            <a:endParaRPr lang="en-US" sz="3550" dirty="0"/>
          </a:p>
        </p:txBody>
      </p:sp>
      <p:sp>
        <p:nvSpPr>
          <p:cNvPr id="22" name="Text 19"/>
          <p:cNvSpPr/>
          <p:nvPr/>
        </p:nvSpPr>
        <p:spPr>
          <a:xfrm>
            <a:off x="9208770" y="5241846"/>
            <a:ext cx="1798796" cy="224790"/>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Petrona Bold" pitchFamily="34" charset="0"/>
                <a:ea typeface="Petrona Bold" pitchFamily="34" charset="-122"/>
                <a:cs typeface="Petrona Bold" pitchFamily="34" charset="-120"/>
              </a:rPr>
              <a:t>Recall</a:t>
            </a:r>
            <a:endParaRPr lang="en-US" sz="1400" dirty="0"/>
          </a:p>
        </p:txBody>
      </p:sp>
      <p:sp>
        <p:nvSpPr>
          <p:cNvPr id="23" name="Text 20"/>
          <p:cNvSpPr/>
          <p:nvPr/>
        </p:nvSpPr>
        <p:spPr>
          <a:xfrm>
            <a:off x="7528203" y="5724287"/>
            <a:ext cx="5159931" cy="452199"/>
          </a:xfrm>
          <a:prstGeom prst="rect">
            <a:avLst/>
          </a:prstGeom>
          <a:noFill/>
          <a:ln/>
        </p:spPr>
        <p:txBody>
          <a:bodyPr wrap="none" lIns="0" tIns="0" rIns="0" bIns="0" rtlCol="0" anchor="t"/>
          <a:lstStyle/>
          <a:p>
            <a:pPr marL="0" indent="0" algn="ctr">
              <a:lnSpc>
                <a:spcPts val="3550"/>
              </a:lnSpc>
              <a:buNone/>
            </a:pPr>
            <a:r>
              <a:rPr lang="en-US" sz="3550" b="1" dirty="0">
                <a:solidFill>
                  <a:srgbClr val="000000"/>
                </a:solidFill>
                <a:latin typeface="Petrona Bold" pitchFamily="34" charset="0"/>
                <a:ea typeface="Petrona Bold" pitchFamily="34" charset="-122"/>
                <a:cs typeface="Petrona Bold" pitchFamily="34" charset="-120"/>
              </a:rPr>
              <a:t>94.3%</a:t>
            </a:r>
            <a:endParaRPr lang="en-US" sz="3550" dirty="0"/>
          </a:p>
        </p:txBody>
      </p:sp>
      <p:sp>
        <p:nvSpPr>
          <p:cNvPr id="24" name="Text 21"/>
          <p:cNvSpPr/>
          <p:nvPr/>
        </p:nvSpPr>
        <p:spPr>
          <a:xfrm>
            <a:off x="9208770" y="6315908"/>
            <a:ext cx="1798796" cy="224790"/>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Petrona Bold" pitchFamily="34" charset="0"/>
                <a:ea typeface="Petrona Bold" pitchFamily="34" charset="-122"/>
                <a:cs typeface="Petrona Bold" pitchFamily="34" charset="-120"/>
              </a:rPr>
              <a:t>F1 Score</a:t>
            </a:r>
            <a:endParaRPr lang="en-US" sz="1400" dirty="0"/>
          </a:p>
        </p:txBody>
      </p:sp>
      <p:sp>
        <p:nvSpPr>
          <p:cNvPr id="25" name="Text 22"/>
          <p:cNvSpPr/>
          <p:nvPr/>
        </p:nvSpPr>
        <p:spPr>
          <a:xfrm>
            <a:off x="7528203" y="6647140"/>
            <a:ext cx="5159931" cy="555784"/>
          </a:xfrm>
          <a:prstGeom prst="rect">
            <a:avLst/>
          </a:prstGeom>
          <a:noFill/>
          <a:ln/>
        </p:spPr>
        <p:txBody>
          <a:bodyPr wrap="square" lIns="0" tIns="0" rIns="0" bIns="0" rtlCol="0" anchor="t"/>
          <a:lstStyle/>
          <a:p>
            <a:pPr marL="0" indent="0" algn="l">
              <a:lnSpc>
                <a:spcPts val="1450"/>
              </a:lnSpc>
              <a:buNone/>
            </a:pPr>
            <a:r>
              <a:rPr lang="en-US" sz="1050" dirty="0">
                <a:solidFill>
                  <a:srgbClr val="000000"/>
                </a:solidFill>
                <a:latin typeface="Inter" pitchFamily="34" charset="0"/>
                <a:ea typeface="Inter" pitchFamily="34" charset="-122"/>
                <a:cs typeface="Inter" pitchFamily="34" charset="-120"/>
              </a:rPr>
              <a:t>The model achieved strong results across all four metrics, indicating reliable classification with minimal false positives and a solid true positive rate for diabetes detection.</a:t>
            </a:r>
            <a:endParaRPr lang="en-US" sz="1050" dirty="0"/>
          </a:p>
        </p:txBody>
      </p:sp>
      <p:pic>
        <p:nvPicPr>
          <p:cNvPr id="27" name="Picture 26">
            <a:extLst>
              <a:ext uri="{FF2B5EF4-FFF2-40B4-BE49-F238E27FC236}">
                <a16:creationId xmlns:a16="http://schemas.microsoft.com/office/drawing/2014/main" id="{EC811426-B855-87CA-8565-31106C8C6894}"/>
              </a:ext>
            </a:extLst>
          </p:cNvPr>
          <p:cNvPicPr>
            <a:picLocks noChangeAspect="1"/>
          </p:cNvPicPr>
          <p:nvPr/>
        </p:nvPicPr>
        <p:blipFill>
          <a:blip r:embed="rId3"/>
          <a:stretch>
            <a:fillRect/>
          </a:stretch>
        </p:blipFill>
        <p:spPr>
          <a:xfrm>
            <a:off x="266945" y="4568189"/>
            <a:ext cx="2660268" cy="3070429"/>
          </a:xfrm>
          <a:prstGeom prst="rect">
            <a:avLst/>
          </a:prstGeom>
        </p:spPr>
      </p:pic>
      <p:pic>
        <p:nvPicPr>
          <p:cNvPr id="29" name="Picture 28">
            <a:extLst>
              <a:ext uri="{FF2B5EF4-FFF2-40B4-BE49-F238E27FC236}">
                <a16:creationId xmlns:a16="http://schemas.microsoft.com/office/drawing/2014/main" id="{1F36A876-721E-E31D-1563-692A71BB8B72}"/>
              </a:ext>
            </a:extLst>
          </p:cNvPr>
          <p:cNvPicPr>
            <a:picLocks noChangeAspect="1"/>
          </p:cNvPicPr>
          <p:nvPr/>
        </p:nvPicPr>
        <p:blipFill>
          <a:blip r:embed="rId4"/>
          <a:stretch>
            <a:fillRect/>
          </a:stretch>
        </p:blipFill>
        <p:spPr>
          <a:xfrm>
            <a:off x="2895865" y="4568190"/>
            <a:ext cx="2660268" cy="3070430"/>
          </a:xfrm>
          <a:prstGeom prst="rect">
            <a:avLst/>
          </a:prstGeom>
        </p:spPr>
      </p:pic>
      <p:pic>
        <p:nvPicPr>
          <p:cNvPr id="31" name="Picture 30">
            <a:extLst>
              <a:ext uri="{FF2B5EF4-FFF2-40B4-BE49-F238E27FC236}">
                <a16:creationId xmlns:a16="http://schemas.microsoft.com/office/drawing/2014/main" id="{BBA5230B-B713-4772-4685-52218BDF84A6}"/>
              </a:ext>
            </a:extLst>
          </p:cNvPr>
          <p:cNvPicPr>
            <a:picLocks noChangeAspect="1"/>
          </p:cNvPicPr>
          <p:nvPr/>
        </p:nvPicPr>
        <p:blipFill>
          <a:blip r:embed="rId5"/>
          <a:stretch>
            <a:fillRect/>
          </a:stretch>
        </p:blipFill>
        <p:spPr>
          <a:xfrm>
            <a:off x="5514974" y="5286503"/>
            <a:ext cx="1858768" cy="1638529"/>
          </a:xfrm>
          <a:prstGeom prst="rect">
            <a:avLst/>
          </a:prstGeom>
        </p:spPr>
      </p:pic>
      <p:sp>
        <p:nvSpPr>
          <p:cNvPr id="13" name="Rectangle 12">
            <a:extLst>
              <a:ext uri="{FF2B5EF4-FFF2-40B4-BE49-F238E27FC236}">
                <a16:creationId xmlns:a16="http://schemas.microsoft.com/office/drawing/2014/main" id="{398ED5D6-727C-EA59-7B20-2086152B5AC8}"/>
              </a:ext>
            </a:extLst>
          </p:cNvPr>
          <p:cNvSpPr/>
          <p:nvPr/>
        </p:nvSpPr>
        <p:spPr>
          <a:xfrm>
            <a:off x="12718970" y="7738946"/>
            <a:ext cx="1911430" cy="4906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254329" y="644366"/>
            <a:ext cx="5435441" cy="421124"/>
          </a:xfrm>
          <a:prstGeom prst="rect">
            <a:avLst/>
          </a:prstGeom>
          <a:noFill/>
          <a:ln/>
        </p:spPr>
        <p:txBody>
          <a:bodyPr wrap="none" lIns="0" tIns="0" rIns="0" bIns="0" rtlCol="0" anchor="t"/>
          <a:lstStyle/>
          <a:p>
            <a:pPr marL="0" indent="0" algn="l">
              <a:lnSpc>
                <a:spcPts val="3300"/>
              </a:lnSpc>
              <a:buNone/>
            </a:pPr>
            <a:r>
              <a:rPr lang="en-US" sz="2650" b="1" dirty="0">
                <a:solidFill>
                  <a:srgbClr val="FF8AAF"/>
                </a:solidFill>
                <a:latin typeface="Petrona Bold" pitchFamily="34" charset="0"/>
                <a:ea typeface="Petrona Bold" pitchFamily="34" charset="-122"/>
                <a:cs typeface="Petrona Bold" pitchFamily="34" charset="-120"/>
              </a:rPr>
              <a:t>Conclusion and Key Learnings </a:t>
            </a:r>
            <a:r>
              <a:rPr lang="en-US" sz="2650" b="1" dirty="0">
                <a:solidFill>
                  <a:srgbClr val="E0D6DE"/>
                </a:solidFill>
                <a:latin typeface="Petrona Bold" pitchFamily="34" charset="0"/>
                <a:ea typeface="Petrona Bold" pitchFamily="34" charset="-122"/>
                <a:cs typeface="Petrona Bold" pitchFamily="34" charset="-120"/>
              </a:rPr>
              <a:t>(Q6)</a:t>
            </a:r>
            <a:endParaRPr lang="en-US" sz="2650" dirty="0"/>
          </a:p>
        </p:txBody>
      </p:sp>
      <p:pic>
        <p:nvPicPr>
          <p:cNvPr id="3" name="Image 0" descr="preencoded.png"/>
          <p:cNvPicPr>
            <a:picLocks noChangeAspect="1"/>
          </p:cNvPicPr>
          <p:nvPr/>
        </p:nvPicPr>
        <p:blipFill>
          <a:blip r:embed="rId3"/>
          <a:stretch>
            <a:fillRect/>
          </a:stretch>
        </p:blipFill>
        <p:spPr>
          <a:xfrm>
            <a:off x="2416373" y="1231463"/>
            <a:ext cx="9797415" cy="3676412"/>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83448" y="2167911"/>
            <a:ext cx="506072" cy="506073"/>
          </a:xfrm>
          <a:prstGeom prst="rect">
            <a:avLst/>
          </a:prstGeom>
        </p:spPr>
      </p:pic>
      <p:sp>
        <p:nvSpPr>
          <p:cNvPr id="5" name="Text 1"/>
          <p:cNvSpPr/>
          <p:nvPr/>
        </p:nvSpPr>
        <p:spPr>
          <a:xfrm>
            <a:off x="10332568" y="4008276"/>
            <a:ext cx="1477732" cy="298899"/>
          </a:xfrm>
          <a:prstGeom prst="rect">
            <a:avLst/>
          </a:prstGeom>
          <a:noFill/>
          <a:ln/>
        </p:spPr>
        <p:txBody>
          <a:bodyPr wrap="none" lIns="0" tIns="0" rIns="0" bIns="0" rtlCol="0" anchor="t"/>
          <a:lstStyle/>
          <a:p>
            <a:pPr marL="0" indent="0" algn="ctr">
              <a:lnSpc>
                <a:spcPts val="2350"/>
              </a:lnSpc>
              <a:buNone/>
            </a:pPr>
            <a:r>
              <a:rPr lang="en-US" sz="1850" b="1" dirty="0">
                <a:solidFill>
                  <a:srgbClr val="E0D6DE"/>
                </a:solidFill>
                <a:latin typeface="Petrona Bold" pitchFamily="34" charset="0"/>
                <a:ea typeface="Petrona Bold" pitchFamily="34" charset="-122"/>
                <a:cs typeface="Petrona Bold" pitchFamily="34" charset="-120"/>
              </a:rPr>
              <a:t>KNN Classify</a:t>
            </a:r>
            <a:endParaRPr lang="en-US" sz="1850" dirty="0"/>
          </a:p>
        </p:txBody>
      </p:sp>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30748" y="2168860"/>
            <a:ext cx="506072" cy="506073"/>
          </a:xfrm>
          <a:prstGeom prst="rect">
            <a:avLst/>
          </a:prstGeom>
        </p:spPr>
      </p:pic>
      <p:sp>
        <p:nvSpPr>
          <p:cNvPr id="7" name="Text 2"/>
          <p:cNvSpPr/>
          <p:nvPr/>
        </p:nvSpPr>
        <p:spPr>
          <a:xfrm>
            <a:off x="8470222" y="4008276"/>
            <a:ext cx="1477731" cy="298899"/>
          </a:xfrm>
          <a:prstGeom prst="rect">
            <a:avLst/>
          </a:prstGeom>
          <a:noFill/>
          <a:ln/>
        </p:spPr>
        <p:txBody>
          <a:bodyPr wrap="none" lIns="0" tIns="0" rIns="0" bIns="0" rtlCol="0" anchor="t"/>
          <a:lstStyle/>
          <a:p>
            <a:pPr marL="0" indent="0" algn="ctr">
              <a:lnSpc>
                <a:spcPts val="2350"/>
              </a:lnSpc>
              <a:buNone/>
            </a:pPr>
            <a:r>
              <a:rPr lang="en-US" sz="1850" b="1" dirty="0">
                <a:solidFill>
                  <a:srgbClr val="E0D6DE"/>
                </a:solidFill>
                <a:latin typeface="Petrona Bold" pitchFamily="34" charset="0"/>
                <a:ea typeface="Petrona Bold" pitchFamily="34" charset="-122"/>
                <a:cs typeface="Petrona Bold" pitchFamily="34" charset="-120"/>
              </a:rPr>
              <a:t>Visualize</a:t>
            </a:r>
            <a:endParaRPr lang="en-US" sz="185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78522" y="2168860"/>
            <a:ext cx="506072" cy="506073"/>
          </a:xfrm>
          <a:prstGeom prst="rect">
            <a:avLst/>
          </a:prstGeom>
        </p:spPr>
      </p:pic>
      <p:sp>
        <p:nvSpPr>
          <p:cNvPr id="9" name="Text 3"/>
          <p:cNvSpPr/>
          <p:nvPr/>
        </p:nvSpPr>
        <p:spPr>
          <a:xfrm>
            <a:off x="6617997" y="3858826"/>
            <a:ext cx="1477732" cy="597798"/>
          </a:xfrm>
          <a:prstGeom prst="rect">
            <a:avLst/>
          </a:prstGeom>
          <a:noFill/>
          <a:ln/>
        </p:spPr>
        <p:txBody>
          <a:bodyPr wrap="square" lIns="0" tIns="0" rIns="0" bIns="0" rtlCol="0" anchor="t"/>
          <a:lstStyle/>
          <a:p>
            <a:pPr marL="0" indent="0" algn="ctr">
              <a:lnSpc>
                <a:spcPts val="2350"/>
              </a:lnSpc>
              <a:buNone/>
            </a:pPr>
            <a:r>
              <a:rPr lang="en-US" sz="1850" b="1" dirty="0">
                <a:solidFill>
                  <a:srgbClr val="E0D6DE"/>
                </a:solidFill>
                <a:latin typeface="Petrona Bold" pitchFamily="34" charset="0"/>
                <a:ea typeface="Petrona Bold" pitchFamily="34" charset="-122"/>
                <a:cs typeface="Petrona Bold" pitchFamily="34" charset="-120"/>
              </a:rPr>
              <a:t>Statistical Analysis</a:t>
            </a:r>
            <a:endParaRPr lang="en-US" sz="1850" dirty="0"/>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26297" y="2168860"/>
            <a:ext cx="506073" cy="506073"/>
          </a:xfrm>
          <a:prstGeom prst="rect">
            <a:avLst/>
          </a:prstGeom>
        </p:spPr>
      </p:pic>
      <p:sp>
        <p:nvSpPr>
          <p:cNvPr id="11" name="Text 4"/>
          <p:cNvSpPr/>
          <p:nvPr/>
        </p:nvSpPr>
        <p:spPr>
          <a:xfrm>
            <a:off x="4765771" y="3858826"/>
            <a:ext cx="1477731" cy="597798"/>
          </a:xfrm>
          <a:prstGeom prst="rect">
            <a:avLst/>
          </a:prstGeom>
          <a:noFill/>
          <a:ln/>
        </p:spPr>
        <p:txBody>
          <a:bodyPr wrap="square" lIns="0" tIns="0" rIns="0" bIns="0" rtlCol="0" anchor="t"/>
          <a:lstStyle/>
          <a:p>
            <a:pPr marL="0" indent="0" algn="ctr">
              <a:lnSpc>
                <a:spcPts val="2350"/>
              </a:lnSpc>
              <a:buNone/>
            </a:pPr>
            <a:r>
              <a:rPr lang="en-US" sz="1850" b="1" dirty="0">
                <a:solidFill>
                  <a:srgbClr val="E0D6DE"/>
                </a:solidFill>
                <a:latin typeface="Petrona Bold" pitchFamily="34" charset="0"/>
                <a:ea typeface="Petrona Bold" pitchFamily="34" charset="-122"/>
                <a:cs typeface="Petrona Bold" pitchFamily="34" charset="-120"/>
              </a:rPr>
              <a:t>Clean &amp; Impute</a:t>
            </a:r>
            <a:endParaRPr lang="en-US" sz="1850" dirty="0"/>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363950" y="2168860"/>
            <a:ext cx="506073" cy="506073"/>
          </a:xfrm>
          <a:prstGeom prst="rect">
            <a:avLst/>
          </a:prstGeom>
        </p:spPr>
      </p:pic>
      <p:sp>
        <p:nvSpPr>
          <p:cNvPr id="13" name="Text 5"/>
          <p:cNvSpPr/>
          <p:nvPr/>
        </p:nvSpPr>
        <p:spPr>
          <a:xfrm>
            <a:off x="2873060" y="4008276"/>
            <a:ext cx="1477732" cy="298899"/>
          </a:xfrm>
          <a:prstGeom prst="rect">
            <a:avLst/>
          </a:prstGeom>
          <a:noFill/>
          <a:ln/>
        </p:spPr>
        <p:txBody>
          <a:bodyPr wrap="none" lIns="0" tIns="0" rIns="0" bIns="0" rtlCol="0" anchor="t"/>
          <a:lstStyle/>
          <a:p>
            <a:pPr marL="0" indent="0" algn="ctr">
              <a:lnSpc>
                <a:spcPts val="2350"/>
              </a:lnSpc>
              <a:buNone/>
            </a:pPr>
            <a:r>
              <a:rPr lang="en-US" sz="1850" b="1" dirty="0">
                <a:solidFill>
                  <a:srgbClr val="E0D6DE"/>
                </a:solidFill>
                <a:latin typeface="Petrona Bold" pitchFamily="34" charset="0"/>
                <a:ea typeface="Petrona Bold" pitchFamily="34" charset="-122"/>
                <a:cs typeface="Petrona Bold" pitchFamily="34" charset="-120"/>
              </a:rPr>
              <a:t>Explore</a:t>
            </a:r>
            <a:endParaRPr lang="en-US" sz="1850" dirty="0"/>
          </a:p>
        </p:txBody>
      </p:sp>
      <p:sp>
        <p:nvSpPr>
          <p:cNvPr id="14" name="Text 6"/>
          <p:cNvSpPr/>
          <p:nvPr/>
        </p:nvSpPr>
        <p:spPr>
          <a:xfrm>
            <a:off x="2254329" y="5084207"/>
            <a:ext cx="1684615" cy="210502"/>
          </a:xfrm>
          <a:prstGeom prst="rect">
            <a:avLst/>
          </a:prstGeom>
          <a:noFill/>
          <a:ln/>
        </p:spPr>
        <p:txBody>
          <a:bodyPr wrap="none" lIns="0" tIns="0" rIns="0" bIns="0" rtlCol="0" anchor="t"/>
          <a:lstStyle/>
          <a:p>
            <a:pPr marL="0" indent="0" algn="l">
              <a:lnSpc>
                <a:spcPts val="1650"/>
              </a:lnSpc>
              <a:buNone/>
            </a:pPr>
            <a:r>
              <a:rPr lang="en-US" sz="1300" b="1" dirty="0">
                <a:solidFill>
                  <a:srgbClr val="FF8AAF"/>
                </a:solidFill>
                <a:latin typeface="Petrona Bold" pitchFamily="34" charset="0"/>
                <a:ea typeface="Petrona Bold" pitchFamily="34" charset="-122"/>
                <a:cs typeface="Petrona Bold" pitchFamily="34" charset="-120"/>
              </a:rPr>
              <a:t>Summary</a:t>
            </a:r>
            <a:endParaRPr lang="en-US" sz="1300" dirty="0"/>
          </a:p>
        </p:txBody>
      </p:sp>
      <p:sp>
        <p:nvSpPr>
          <p:cNvPr id="15" name="Text 7"/>
          <p:cNvSpPr/>
          <p:nvPr/>
        </p:nvSpPr>
        <p:spPr>
          <a:xfrm>
            <a:off x="2254329" y="5377696"/>
            <a:ext cx="4904184" cy="845344"/>
          </a:xfrm>
          <a:prstGeom prst="rect">
            <a:avLst/>
          </a:prstGeom>
          <a:noFill/>
          <a:ln>
            <a:solidFill>
              <a:srgbClr val="0D0627"/>
            </a:solidFill>
          </a:ln>
        </p:spPr>
        <p:txBody>
          <a:bodyPr wrap="square" lIns="0" tIns="0" rIns="0" bIns="0" rtlCol="0" anchor="t"/>
          <a:lstStyle/>
          <a:p>
            <a:pPr marL="0" indent="0" algn="l">
              <a:lnSpc>
                <a:spcPts val="1300"/>
              </a:lnSpc>
              <a:buNone/>
            </a:pPr>
            <a:r>
              <a:rPr lang="en-US" sz="1000" dirty="0">
                <a:solidFill>
                  <a:srgbClr val="E0D6DE"/>
                </a:solidFill>
                <a:latin typeface="Inter" pitchFamily="34" charset="0"/>
                <a:ea typeface="Inter" pitchFamily="34" charset="-122"/>
                <a:cs typeface="Inter" pitchFamily="34" charset="-120"/>
              </a:rPr>
              <a:t>This project demonstrated a full end-to-end data science pipeline on the </a:t>
            </a:r>
            <a:r>
              <a:rPr lang="en-US" sz="1000" b="1" dirty="0">
                <a:solidFill>
                  <a:srgbClr val="E0D6DE"/>
                </a:solidFill>
                <a:latin typeface="Inter" pitchFamily="34" charset="0"/>
                <a:ea typeface="Inter" pitchFamily="34" charset="-122"/>
                <a:cs typeface="Inter" pitchFamily="34" charset="-120"/>
              </a:rPr>
              <a:t>diabetes_data_upload.csv</a:t>
            </a:r>
            <a:r>
              <a:rPr lang="en-US" sz="1000" dirty="0">
                <a:solidFill>
                  <a:srgbClr val="E0D6DE"/>
                </a:solidFill>
                <a:latin typeface="Inter" pitchFamily="34" charset="0"/>
                <a:ea typeface="Inter" pitchFamily="34" charset="-122"/>
                <a:cs typeface="Inter" pitchFamily="34" charset="-120"/>
              </a:rPr>
              <a:t> dataset (520 records, 17 columns). From introducing and resolving artificial missing values, to computing descriptive statistics, generating meaningful visualizations, and building a KNN classifier — every stage of the workflow was exercised and validated.</a:t>
            </a:r>
            <a:endParaRPr lang="en-US" sz="1000" dirty="0"/>
          </a:p>
        </p:txBody>
      </p:sp>
      <p:sp>
        <p:nvSpPr>
          <p:cNvPr id="16" name="Text 8"/>
          <p:cNvSpPr/>
          <p:nvPr/>
        </p:nvSpPr>
        <p:spPr>
          <a:xfrm>
            <a:off x="2254329" y="6297692"/>
            <a:ext cx="4904184" cy="932498"/>
          </a:xfrm>
          <a:prstGeom prst="rect">
            <a:avLst/>
          </a:prstGeom>
          <a:noFill/>
          <a:ln/>
        </p:spPr>
        <p:txBody>
          <a:bodyPr wrap="square" lIns="0" tIns="0" rIns="0" bIns="0" rtlCol="0" anchor="t"/>
          <a:lstStyle/>
          <a:p>
            <a:pPr marL="342900" indent="-342900" algn="l">
              <a:lnSpc>
                <a:spcPts val="1300"/>
              </a:lnSpc>
              <a:buSzPct val="100000"/>
              <a:buChar char="•"/>
            </a:pPr>
            <a:r>
              <a:rPr lang="en-US" sz="1000" dirty="0">
                <a:solidFill>
                  <a:srgbClr val="E0D6DE"/>
                </a:solidFill>
                <a:latin typeface="Inter" pitchFamily="34" charset="0"/>
                <a:ea typeface="Inter" pitchFamily="34" charset="-122"/>
                <a:cs typeface="Inter" pitchFamily="34" charset="-120"/>
              </a:rPr>
              <a:t>Preprocessing (imputation + encoding + scaling) is critical before applying KNN</a:t>
            </a:r>
            <a:endParaRPr lang="en-US" sz="1000" dirty="0"/>
          </a:p>
          <a:p>
            <a:pPr marL="342900" indent="-342900" algn="l">
              <a:lnSpc>
                <a:spcPts val="1300"/>
              </a:lnSpc>
              <a:buSzPct val="100000"/>
              <a:buChar char="•"/>
            </a:pPr>
            <a:r>
              <a:rPr lang="en-US" sz="1000" dirty="0">
                <a:solidFill>
                  <a:srgbClr val="E0D6DE"/>
                </a:solidFill>
                <a:latin typeface="Inter" pitchFamily="34" charset="0"/>
                <a:ea typeface="Inter" pitchFamily="34" charset="-122"/>
                <a:cs typeface="Inter" pitchFamily="34" charset="-120"/>
              </a:rPr>
              <a:t>StandardScaler is essential for distance-based classifiers like KNN</a:t>
            </a:r>
            <a:endParaRPr lang="en-US" sz="1000" dirty="0"/>
          </a:p>
          <a:p>
            <a:pPr marL="342900" indent="-342900" algn="l">
              <a:lnSpc>
                <a:spcPts val="1300"/>
              </a:lnSpc>
              <a:buSzPct val="100000"/>
              <a:buChar char="•"/>
            </a:pPr>
            <a:r>
              <a:rPr lang="en-US" sz="1000" dirty="0">
                <a:solidFill>
                  <a:srgbClr val="E0D6DE"/>
                </a:solidFill>
                <a:latin typeface="Inter" pitchFamily="34" charset="0"/>
                <a:ea typeface="Inter" pitchFamily="34" charset="-122"/>
                <a:cs typeface="Inter" pitchFamily="34" charset="-120"/>
              </a:rPr>
              <a:t>KNN with n_neighbors=5 achieved </a:t>
            </a:r>
            <a:r>
              <a:rPr lang="en-US" sz="1000" b="1" dirty="0">
                <a:solidFill>
                  <a:srgbClr val="E0D6DE"/>
                </a:solidFill>
                <a:latin typeface="Inter" pitchFamily="34" charset="0"/>
                <a:ea typeface="Inter" pitchFamily="34" charset="-122"/>
                <a:cs typeface="Inter" pitchFamily="34" charset="-120"/>
              </a:rPr>
              <a:t>93.3% accuracy</a:t>
            </a:r>
            <a:r>
              <a:rPr lang="en-US" sz="1000" dirty="0">
                <a:solidFill>
                  <a:srgbClr val="E0D6DE"/>
                </a:solidFill>
                <a:latin typeface="Inter" pitchFamily="34" charset="0"/>
                <a:ea typeface="Inter" pitchFamily="34" charset="-122"/>
                <a:cs typeface="Inter" pitchFamily="34" charset="-120"/>
              </a:rPr>
              <a:t> and </a:t>
            </a:r>
            <a:r>
              <a:rPr lang="en-US" sz="1000" b="1" dirty="0">
                <a:solidFill>
                  <a:srgbClr val="E0D6DE"/>
                </a:solidFill>
                <a:latin typeface="Inter" pitchFamily="34" charset="0"/>
                <a:ea typeface="Inter" pitchFamily="34" charset="-122"/>
                <a:cs typeface="Inter" pitchFamily="34" charset="-120"/>
              </a:rPr>
              <a:t>94.3% F1 Score</a:t>
            </a:r>
            <a:endParaRPr lang="en-US" sz="1000" dirty="0"/>
          </a:p>
          <a:p>
            <a:pPr marL="342900" indent="-342900" algn="l">
              <a:lnSpc>
                <a:spcPts val="1300"/>
              </a:lnSpc>
              <a:buSzPct val="100000"/>
              <a:buChar char="•"/>
            </a:pPr>
            <a:r>
              <a:rPr lang="en-US" sz="1000" dirty="0">
                <a:solidFill>
                  <a:srgbClr val="E0D6DE"/>
                </a:solidFill>
                <a:latin typeface="Inter" pitchFamily="34" charset="0"/>
                <a:ea typeface="Inter" pitchFamily="34" charset="-122"/>
                <a:cs typeface="Inter" pitchFamily="34" charset="-120"/>
              </a:rPr>
              <a:t>The model is well-suited for early diabetes prediction in clinical settings</a:t>
            </a:r>
            <a:endParaRPr lang="en-US" sz="1000" dirty="0"/>
          </a:p>
        </p:txBody>
      </p:sp>
      <p:sp>
        <p:nvSpPr>
          <p:cNvPr id="20" name="Text 11"/>
          <p:cNvSpPr/>
          <p:nvPr/>
        </p:nvSpPr>
        <p:spPr>
          <a:xfrm>
            <a:off x="7946469" y="5510689"/>
            <a:ext cx="4308634" cy="507206"/>
          </a:xfrm>
          <a:prstGeom prst="rect">
            <a:avLst/>
          </a:prstGeom>
          <a:noFill/>
          <a:ln/>
        </p:spPr>
        <p:txBody>
          <a:bodyPr wrap="square" lIns="0" tIns="0" rIns="0" bIns="0" rtlCol="0" anchor="t"/>
          <a:lstStyle/>
          <a:p>
            <a:pPr marL="0" indent="0" algn="l">
              <a:lnSpc>
                <a:spcPts val="1300"/>
              </a:lnSpc>
              <a:buNone/>
            </a:pPr>
            <a:endParaRPr lang="en-US" sz="1000" dirty="0"/>
          </a:p>
        </p:txBody>
      </p:sp>
      <p:sp>
        <p:nvSpPr>
          <p:cNvPr id="21" name="Shape 12"/>
          <p:cNvSpPr/>
          <p:nvPr/>
        </p:nvSpPr>
        <p:spPr>
          <a:xfrm>
            <a:off x="7356863" y="5569505"/>
            <a:ext cx="2410539" cy="1241703"/>
          </a:xfrm>
          <a:prstGeom prst="roundRect">
            <a:avLst>
              <a:gd name="adj" fmla="val 4342"/>
            </a:avLst>
          </a:prstGeom>
          <a:solidFill>
            <a:srgbClr val="2F1D63"/>
          </a:solidFill>
          <a:ln w="7620">
            <a:solidFill>
              <a:srgbClr val="48367C"/>
            </a:solidFill>
            <a:prstDash val="solid"/>
          </a:ln>
        </p:spPr>
      </p:sp>
      <p:sp>
        <p:nvSpPr>
          <p:cNvPr id="22" name="Text 13"/>
          <p:cNvSpPr/>
          <p:nvPr/>
        </p:nvSpPr>
        <p:spPr>
          <a:xfrm>
            <a:off x="7615238" y="5640517"/>
            <a:ext cx="1684615" cy="956021"/>
          </a:xfrm>
          <a:prstGeom prst="rect">
            <a:avLst/>
          </a:prstGeom>
          <a:noFill/>
          <a:ln/>
        </p:spPr>
        <p:txBody>
          <a:bodyPr wrap="none" lIns="0" tIns="0" rIns="0" bIns="0" rtlCol="0" anchor="t"/>
          <a:lstStyle/>
          <a:p>
            <a:pPr marL="0" indent="0" algn="l">
              <a:lnSpc>
                <a:spcPts val="1650"/>
              </a:lnSpc>
              <a:buNone/>
            </a:pPr>
            <a:r>
              <a:rPr lang="en-US" sz="1300" b="1" dirty="0">
                <a:solidFill>
                  <a:srgbClr val="E0D6DE"/>
                </a:solidFill>
                <a:latin typeface="Petrona Bold" pitchFamily="34" charset="0"/>
                <a:ea typeface="Petrona Bold" pitchFamily="34" charset="-122"/>
                <a:cs typeface="Petrona Bold" pitchFamily="34" charset="-120"/>
              </a:rPr>
              <a:t>Model Verdict</a:t>
            </a:r>
            <a:endParaRPr lang="en-US" sz="1300" dirty="0"/>
          </a:p>
        </p:txBody>
      </p:sp>
      <p:sp>
        <p:nvSpPr>
          <p:cNvPr id="23" name="Text 14"/>
          <p:cNvSpPr/>
          <p:nvPr/>
        </p:nvSpPr>
        <p:spPr>
          <a:xfrm>
            <a:off x="7615238" y="6017895"/>
            <a:ext cx="2138601" cy="661630"/>
          </a:xfrm>
          <a:prstGeom prst="rect">
            <a:avLst/>
          </a:prstGeom>
          <a:noFill/>
          <a:ln/>
        </p:spPr>
        <p:txBody>
          <a:bodyPr wrap="square" lIns="0" tIns="0" rIns="0" bIns="0" rtlCol="0" anchor="t"/>
          <a:lstStyle/>
          <a:p>
            <a:pPr marL="0" indent="0" algn="l">
              <a:lnSpc>
                <a:spcPts val="1300"/>
              </a:lnSpc>
              <a:buNone/>
            </a:pPr>
            <a:r>
              <a:rPr lang="en-US" sz="1000" dirty="0">
                <a:solidFill>
                  <a:srgbClr val="E0D6DE"/>
                </a:solidFill>
                <a:latin typeface="Inter" pitchFamily="34" charset="0"/>
                <a:ea typeface="Inter" pitchFamily="34" charset="-122"/>
                <a:cs typeface="Inter" pitchFamily="34" charset="-120"/>
              </a:rPr>
              <a:t>KNN performed strongly — suitable for healthcare classification tasks with proper preprocessing.</a:t>
            </a:r>
            <a:endParaRPr lang="en-US" sz="1000" dirty="0"/>
          </a:p>
        </p:txBody>
      </p:sp>
      <p:sp>
        <p:nvSpPr>
          <p:cNvPr id="25" name="Text 16"/>
          <p:cNvSpPr/>
          <p:nvPr/>
        </p:nvSpPr>
        <p:spPr>
          <a:xfrm>
            <a:off x="10108763" y="5640517"/>
            <a:ext cx="1684615" cy="956021"/>
          </a:xfrm>
          <a:prstGeom prst="rect">
            <a:avLst/>
          </a:prstGeom>
          <a:noFill/>
          <a:ln/>
        </p:spPr>
        <p:txBody>
          <a:bodyPr wrap="none" lIns="0" tIns="0" rIns="0" bIns="0" rtlCol="0" anchor="t"/>
          <a:lstStyle/>
          <a:p>
            <a:pPr marL="0" indent="0" algn="l">
              <a:lnSpc>
                <a:spcPts val="1650"/>
              </a:lnSpc>
              <a:buNone/>
            </a:pPr>
            <a:endParaRPr lang="en-US" sz="1300" dirty="0"/>
          </a:p>
        </p:txBody>
      </p:sp>
      <p:sp>
        <p:nvSpPr>
          <p:cNvPr id="26" name="Text 17"/>
          <p:cNvSpPr/>
          <p:nvPr/>
        </p:nvSpPr>
        <p:spPr>
          <a:xfrm>
            <a:off x="10108763" y="6017895"/>
            <a:ext cx="2138720" cy="661630"/>
          </a:xfrm>
          <a:prstGeom prst="rect">
            <a:avLst/>
          </a:prstGeom>
          <a:noFill/>
          <a:ln/>
        </p:spPr>
        <p:txBody>
          <a:bodyPr wrap="square" lIns="0" tIns="0" rIns="0" bIns="0" rtlCol="0" anchor="t"/>
          <a:lstStyle/>
          <a:p>
            <a:pPr marL="0" indent="0" algn="l">
              <a:lnSpc>
                <a:spcPts val="1300"/>
              </a:lnSpc>
              <a:buNone/>
            </a:pPr>
            <a:endParaRPr lang="en-US" sz="1000" dirty="0"/>
          </a:p>
        </p:txBody>
      </p:sp>
      <p:sp>
        <p:nvSpPr>
          <p:cNvPr id="17" name="Rectangle 16">
            <a:extLst>
              <a:ext uri="{FF2B5EF4-FFF2-40B4-BE49-F238E27FC236}">
                <a16:creationId xmlns:a16="http://schemas.microsoft.com/office/drawing/2014/main" id="{3382AC2C-5F8B-D19B-4806-0469A42A7DAB}"/>
              </a:ext>
            </a:extLst>
          </p:cNvPr>
          <p:cNvSpPr/>
          <p:nvPr/>
        </p:nvSpPr>
        <p:spPr>
          <a:xfrm>
            <a:off x="12801600" y="7705493"/>
            <a:ext cx="1828800" cy="5241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1331</Words>
  <Application>Microsoft Office PowerPoint</Application>
  <PresentationFormat>Custom</PresentationFormat>
  <Paragraphs>181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Inter</vt:lpstr>
      <vt:lpstr>Petrona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Pratham Shah (00003659714)</cp:lastModifiedBy>
  <cp:revision>3</cp:revision>
  <dcterms:created xsi:type="dcterms:W3CDTF">2026-04-08T15:41:31Z</dcterms:created>
  <dcterms:modified xsi:type="dcterms:W3CDTF">2026-04-09T06:25:06Z</dcterms:modified>
</cp:coreProperties>
</file>